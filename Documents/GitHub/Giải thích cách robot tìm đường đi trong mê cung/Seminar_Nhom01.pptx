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9753600" cy="7315200"/>
  <p:notesSz cx="6858000" cy="9144000"/>
  <p:embeddedFontLst>
    <p:embeddedFont>
      <p:font typeface="Faustina Bold" charset="1" panose="00000800000000000000"/>
      <p:regular r:id="rId16"/>
    </p:embeddedFont>
    <p:embeddedFont>
      <p:font typeface="Inter" charset="1" panose="020B0502030000000004"/>
      <p:regular r:id="rId17"/>
    </p:embeddedFont>
    <p:embeddedFont>
      <p:font typeface="Paytone One" charset="1" panose="00000500000000000000"/>
      <p:regular r:id="rId18"/>
    </p:embeddedFont>
    <p:embeddedFont>
      <p:font typeface="Faustina" charset="1" panose="00000500000000000000"/>
      <p:regular r:id="rId19"/>
    </p:embeddedFont>
    <p:embeddedFont>
      <p:font typeface="Inter Bold" charset="1" panose="020B080203000000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22080" y="2669615"/>
            <a:ext cx="1975970" cy="197597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5" id="5"/>
          <p:cNvSpPr/>
          <p:nvPr/>
        </p:nvSpPr>
        <p:spPr>
          <a:xfrm flipH="false" flipV="false" rot="0">
            <a:off x="0" y="6066770"/>
            <a:ext cx="9753600" cy="3144561"/>
          </a:xfrm>
          <a:custGeom>
            <a:avLst/>
            <a:gdLst/>
            <a:ahLst/>
            <a:cxnLst/>
            <a:rect r="r" b="b" t="t" l="l"/>
            <a:pathLst>
              <a:path h="3144561" w="9753600">
                <a:moveTo>
                  <a:pt x="0" y="0"/>
                </a:moveTo>
                <a:lnTo>
                  <a:pt x="9753600" y="0"/>
                </a:lnTo>
                <a:lnTo>
                  <a:pt x="9753600" y="3144560"/>
                </a:lnTo>
                <a:lnTo>
                  <a:pt x="0" y="3144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94826" y="-1529220"/>
            <a:ext cx="2755104" cy="2755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8" id="8"/>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9" id="9"/>
          <p:cNvSpPr/>
          <p:nvPr/>
        </p:nvSpPr>
        <p:spPr>
          <a:xfrm flipH="false" flipV="false" rot="0">
            <a:off x="731520" y="5224634"/>
            <a:ext cx="1025814" cy="1025814"/>
          </a:xfrm>
          <a:custGeom>
            <a:avLst/>
            <a:gdLst/>
            <a:ahLst/>
            <a:cxnLst/>
            <a:rect r="r" b="b" t="t" l="l"/>
            <a:pathLst>
              <a:path h="1025814" w="1025814">
                <a:moveTo>
                  <a:pt x="0" y="0"/>
                </a:moveTo>
                <a:lnTo>
                  <a:pt x="1025814" y="0"/>
                </a:lnTo>
                <a:lnTo>
                  <a:pt x="1025814" y="1025814"/>
                </a:lnTo>
                <a:lnTo>
                  <a:pt x="0" y="1025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860278" y="1003839"/>
            <a:ext cx="8161802" cy="1356942"/>
          </a:xfrm>
          <a:prstGeom prst="rect">
            <a:avLst/>
          </a:prstGeom>
        </p:spPr>
        <p:txBody>
          <a:bodyPr anchor="t" rtlCol="false" tIns="0" lIns="0" bIns="0" rIns="0">
            <a:spAutoFit/>
          </a:bodyPr>
          <a:lstStyle/>
          <a:p>
            <a:pPr algn="ctr" marL="0" indent="0" lvl="0">
              <a:lnSpc>
                <a:spcPts val="5439"/>
              </a:lnSpc>
            </a:pPr>
            <a:r>
              <a:rPr lang="en-US" b="true" sz="3999">
                <a:solidFill>
                  <a:srgbClr val="1F3685"/>
                </a:solidFill>
                <a:latin typeface="Faustina Bold"/>
                <a:ea typeface="Faustina Bold"/>
                <a:cs typeface="Faustina Bold"/>
                <a:sym typeface="Faustina Bold"/>
              </a:rPr>
              <a:t>ỨNG DỤNG MÔ HÌNH GIẢI THÍCH VIPER</a:t>
            </a:r>
          </a:p>
        </p:txBody>
      </p:sp>
      <p:sp>
        <p:nvSpPr>
          <p:cNvPr name="Freeform 11" id="11"/>
          <p:cNvSpPr/>
          <p:nvPr/>
        </p:nvSpPr>
        <p:spPr>
          <a:xfrm flipH="false" flipV="false" rot="0">
            <a:off x="7512401" y="-521129"/>
            <a:ext cx="1074077" cy="1074077"/>
          </a:xfrm>
          <a:custGeom>
            <a:avLst/>
            <a:gdLst/>
            <a:ahLst/>
            <a:cxnLst/>
            <a:rect r="r" b="b" t="t" l="l"/>
            <a:pathLst>
              <a:path h="1074077" w="1074077">
                <a:moveTo>
                  <a:pt x="0" y="0"/>
                </a:moveTo>
                <a:lnTo>
                  <a:pt x="1074076" y="0"/>
                </a:lnTo>
                <a:lnTo>
                  <a:pt x="1074076" y="1074076"/>
                </a:lnTo>
                <a:lnTo>
                  <a:pt x="0" y="10740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470830" y="3695606"/>
            <a:ext cx="7350659" cy="2536923"/>
          </a:xfrm>
          <a:prstGeom prst="rect">
            <a:avLst/>
          </a:prstGeom>
        </p:spPr>
        <p:txBody>
          <a:bodyPr anchor="t" rtlCol="false" tIns="0" lIns="0" bIns="0" rIns="0">
            <a:spAutoFit/>
          </a:bodyPr>
          <a:lstStyle/>
          <a:p>
            <a:pPr algn="ctr">
              <a:lnSpc>
                <a:spcPts val="4099"/>
              </a:lnSpc>
            </a:pPr>
            <a:r>
              <a:rPr lang="en-US" sz="2499">
                <a:solidFill>
                  <a:srgbClr val="000000"/>
                </a:solidFill>
                <a:latin typeface="Inter"/>
                <a:ea typeface="Inter"/>
                <a:cs typeface="Inter"/>
                <a:sym typeface="Inter"/>
              </a:rPr>
              <a:t>Giảng viên hướng dẫn: T.S Nguyễn Quốc Huy</a:t>
            </a:r>
          </a:p>
          <a:p>
            <a:pPr algn="ctr">
              <a:lnSpc>
                <a:spcPts val="4099"/>
              </a:lnSpc>
            </a:pPr>
            <a:r>
              <a:rPr lang="en-US" sz="2499">
                <a:solidFill>
                  <a:srgbClr val="000000"/>
                </a:solidFill>
                <a:latin typeface="Inter"/>
                <a:ea typeface="Inter"/>
                <a:cs typeface="Inter"/>
                <a:sym typeface="Inter"/>
              </a:rPr>
              <a:t> Nhóm 01: </a:t>
            </a:r>
          </a:p>
          <a:p>
            <a:pPr algn="ctr">
              <a:lnSpc>
                <a:spcPts val="4099"/>
              </a:lnSpc>
            </a:pPr>
            <a:r>
              <a:rPr lang="en-US" sz="2499">
                <a:solidFill>
                  <a:srgbClr val="000000"/>
                </a:solidFill>
                <a:latin typeface="Inter"/>
                <a:ea typeface="Inter"/>
                <a:cs typeface="Inter"/>
                <a:sym typeface="Inter"/>
              </a:rPr>
              <a:t> Lê Minh Nguyệt 3121410355</a:t>
            </a:r>
          </a:p>
          <a:p>
            <a:pPr algn="ctr">
              <a:lnSpc>
                <a:spcPts val="4099"/>
              </a:lnSpc>
            </a:pPr>
            <a:r>
              <a:rPr lang="en-US" sz="2499">
                <a:solidFill>
                  <a:srgbClr val="000000"/>
                </a:solidFill>
                <a:latin typeface="Inter"/>
                <a:ea typeface="Inter"/>
                <a:cs typeface="Inter"/>
                <a:sym typeface="Inter"/>
              </a:rPr>
              <a:t> Nguyễn Thị Xinh  3121410587</a:t>
            </a:r>
          </a:p>
          <a:p>
            <a:pPr algn="ctr" marL="0" indent="0" lvl="0">
              <a:lnSpc>
                <a:spcPts val="4099"/>
              </a:lnSpc>
            </a:pPr>
            <a:r>
              <a:rPr lang="en-US" sz="2499">
                <a:solidFill>
                  <a:srgbClr val="000000"/>
                </a:solidFill>
                <a:latin typeface="Inter"/>
                <a:ea typeface="Inter"/>
                <a:cs typeface="Inter"/>
                <a:sym typeface="Inter"/>
              </a:rPr>
              <a:t> Nguyễn Văn Long  3121410299</a:t>
            </a:r>
          </a:p>
        </p:txBody>
      </p:sp>
      <p:sp>
        <p:nvSpPr>
          <p:cNvPr name="TextBox 13" id="13"/>
          <p:cNvSpPr txBox="true"/>
          <p:nvPr/>
        </p:nvSpPr>
        <p:spPr>
          <a:xfrm rot="0">
            <a:off x="1151574" y="3172691"/>
            <a:ext cx="7434903" cy="341009"/>
          </a:xfrm>
          <a:prstGeom prst="rect">
            <a:avLst/>
          </a:prstGeom>
        </p:spPr>
        <p:txBody>
          <a:bodyPr anchor="t" rtlCol="false" tIns="0" lIns="0" bIns="0" rIns="0">
            <a:spAutoFit/>
          </a:bodyPr>
          <a:lstStyle/>
          <a:p>
            <a:pPr algn="ctr" marL="0" indent="0" lvl="0">
              <a:lnSpc>
                <a:spcPts val="2429"/>
              </a:lnSpc>
            </a:pPr>
            <a:r>
              <a:rPr lang="en-US" sz="2699">
                <a:solidFill>
                  <a:srgbClr val="000000"/>
                </a:solidFill>
                <a:latin typeface="Inter"/>
                <a:ea typeface="Inter"/>
                <a:cs typeface="Inter"/>
                <a:sym typeface="Inter"/>
              </a:rPr>
              <a:t>MÔN: SERMINAR CHUYÊN NGÀNH</a:t>
            </a:r>
          </a:p>
        </p:txBody>
      </p:sp>
      <p:sp>
        <p:nvSpPr>
          <p:cNvPr name="TextBox 14" id="14"/>
          <p:cNvSpPr txBox="true"/>
          <p:nvPr/>
        </p:nvSpPr>
        <p:spPr>
          <a:xfrm rot="0">
            <a:off x="8865206" y="6183773"/>
            <a:ext cx="298858" cy="701512"/>
          </a:xfrm>
          <a:prstGeom prst="rect">
            <a:avLst/>
          </a:prstGeom>
        </p:spPr>
        <p:txBody>
          <a:bodyPr anchor="t" rtlCol="false" tIns="0" lIns="0" bIns="0" rIns="0" wrap="none">
            <a:spAutoFit/>
          </a:bodyPr>
          <a:lstStyle/>
          <a:p>
            <a:pPr algn="ctr">
              <a:lnSpc>
                <a:spcPts val="5599"/>
              </a:lnSpc>
              <a:spcBef>
                <a:spcPct val="0"/>
              </a:spcBef>
            </a:pPr>
            <a:r>
              <a:rPr lang="en-US" sz="3999">
                <a:solidFill>
                  <a:srgbClr val="000000"/>
                </a:solidFill>
                <a:latin typeface="Paytone One"/>
                <a:ea typeface="Paytone One"/>
                <a:cs typeface="Paytone One"/>
                <a:sym typeface="Paytone One"/>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71470" y="5808085"/>
            <a:ext cx="1950610" cy="1950610"/>
          </a:xfrm>
          <a:custGeom>
            <a:avLst/>
            <a:gdLst/>
            <a:ahLst/>
            <a:cxnLst/>
            <a:rect r="r" b="b" t="t" l="l"/>
            <a:pathLst>
              <a:path h="1950610" w="1950610">
                <a:moveTo>
                  <a:pt x="0" y="0"/>
                </a:moveTo>
                <a:lnTo>
                  <a:pt x="1950610" y="0"/>
                </a:lnTo>
                <a:lnTo>
                  <a:pt x="1950610" y="1950610"/>
                </a:lnTo>
                <a:lnTo>
                  <a:pt x="0" y="1950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45299" y="660819"/>
            <a:ext cx="7263001" cy="512414"/>
          </a:xfrm>
          <a:prstGeom prst="rect">
            <a:avLst/>
          </a:prstGeom>
        </p:spPr>
        <p:txBody>
          <a:bodyPr anchor="t" rtlCol="false" tIns="0" lIns="0" bIns="0" rIns="0">
            <a:spAutoFit/>
          </a:bodyPr>
          <a:lstStyle/>
          <a:p>
            <a:pPr algn="ctr" marL="0" indent="0" lvl="0">
              <a:lnSpc>
                <a:spcPts val="3780"/>
              </a:lnSpc>
            </a:pPr>
            <a:r>
              <a:rPr lang="en-US" b="true" sz="4200">
                <a:solidFill>
                  <a:srgbClr val="1F3685"/>
                </a:solidFill>
                <a:latin typeface="Faustina Bold"/>
                <a:ea typeface="Faustina Bold"/>
                <a:cs typeface="Faustina Bold"/>
                <a:sym typeface="Faustina Bold"/>
              </a:rPr>
              <a:t>GIỚI THIỆU VỀ MÊ CUNG</a:t>
            </a:r>
          </a:p>
        </p:txBody>
      </p:sp>
      <p:grpSp>
        <p:nvGrpSpPr>
          <p:cNvPr name="Group 4" id="4"/>
          <p:cNvGrpSpPr/>
          <p:nvPr/>
        </p:nvGrpSpPr>
        <p:grpSpPr>
          <a:xfrm rot="0">
            <a:off x="-501207" y="6895791"/>
            <a:ext cx="10844387" cy="922419"/>
            <a:chOff x="0" y="0"/>
            <a:chExt cx="4016440" cy="341637"/>
          </a:xfrm>
        </p:grpSpPr>
        <p:sp>
          <p:nvSpPr>
            <p:cNvPr name="Freeform 5" id="5"/>
            <p:cNvSpPr/>
            <p:nvPr/>
          </p:nvSpPr>
          <p:spPr>
            <a:xfrm flipH="false" flipV="false" rot="0">
              <a:off x="0" y="0"/>
              <a:ext cx="4016440" cy="341637"/>
            </a:xfrm>
            <a:custGeom>
              <a:avLst/>
              <a:gdLst/>
              <a:ahLst/>
              <a:cxnLst/>
              <a:rect r="r" b="b" t="t" l="l"/>
              <a:pathLst>
                <a:path h="341637" w="4016440">
                  <a:moveTo>
                    <a:pt x="25701" y="0"/>
                  </a:moveTo>
                  <a:lnTo>
                    <a:pt x="3990739" y="0"/>
                  </a:lnTo>
                  <a:cubicBezTo>
                    <a:pt x="3997555" y="0"/>
                    <a:pt x="4004092" y="2708"/>
                    <a:pt x="4008912" y="7528"/>
                  </a:cubicBezTo>
                  <a:cubicBezTo>
                    <a:pt x="4013732" y="12347"/>
                    <a:pt x="4016440" y="18885"/>
                    <a:pt x="4016440" y="25701"/>
                  </a:cubicBezTo>
                  <a:lnTo>
                    <a:pt x="4016440" y="315936"/>
                  </a:lnTo>
                  <a:cubicBezTo>
                    <a:pt x="4016440" y="322752"/>
                    <a:pt x="4013732" y="329289"/>
                    <a:pt x="4008912" y="334109"/>
                  </a:cubicBezTo>
                  <a:cubicBezTo>
                    <a:pt x="4004092" y="338929"/>
                    <a:pt x="3997555" y="341637"/>
                    <a:pt x="3990739" y="341637"/>
                  </a:cubicBezTo>
                  <a:lnTo>
                    <a:pt x="25701" y="341637"/>
                  </a:lnTo>
                  <a:cubicBezTo>
                    <a:pt x="18885" y="341637"/>
                    <a:pt x="12347" y="338929"/>
                    <a:pt x="7528" y="334109"/>
                  </a:cubicBezTo>
                  <a:cubicBezTo>
                    <a:pt x="2708" y="329289"/>
                    <a:pt x="0" y="322752"/>
                    <a:pt x="0" y="315936"/>
                  </a:cubicBezTo>
                  <a:lnTo>
                    <a:pt x="0" y="25701"/>
                  </a:lnTo>
                  <a:cubicBezTo>
                    <a:pt x="0" y="18885"/>
                    <a:pt x="2708" y="12347"/>
                    <a:pt x="7528" y="7528"/>
                  </a:cubicBezTo>
                  <a:cubicBezTo>
                    <a:pt x="12347" y="2708"/>
                    <a:pt x="18885" y="0"/>
                    <a:pt x="25701" y="0"/>
                  </a:cubicBezTo>
                  <a:close/>
                </a:path>
              </a:pathLst>
            </a:custGeom>
            <a:solidFill>
              <a:srgbClr val="2B4CC0"/>
            </a:solidFill>
          </p:spPr>
        </p:sp>
        <p:sp>
          <p:nvSpPr>
            <p:cNvPr name="TextBox 6" id="6"/>
            <p:cNvSpPr txBox="true"/>
            <p:nvPr/>
          </p:nvSpPr>
          <p:spPr>
            <a:xfrm>
              <a:off x="0" y="38100"/>
              <a:ext cx="4016440" cy="303537"/>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490107" y="-447626"/>
            <a:ext cx="1735406" cy="173540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9" id="9"/>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10" id="10"/>
          <p:cNvSpPr/>
          <p:nvPr/>
        </p:nvSpPr>
        <p:spPr>
          <a:xfrm flipH="false" flipV="false" rot="0">
            <a:off x="-446445" y="4089271"/>
            <a:ext cx="892890" cy="892890"/>
          </a:xfrm>
          <a:custGeom>
            <a:avLst/>
            <a:gdLst/>
            <a:ahLst/>
            <a:cxnLst/>
            <a:rect r="r" b="b" t="t" l="l"/>
            <a:pathLst>
              <a:path h="892890" w="892890">
                <a:moveTo>
                  <a:pt x="0" y="0"/>
                </a:moveTo>
                <a:lnTo>
                  <a:pt x="892890" y="0"/>
                </a:lnTo>
                <a:lnTo>
                  <a:pt x="892890" y="892889"/>
                </a:lnTo>
                <a:lnTo>
                  <a:pt x="0" y="8928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8508301" y="774269"/>
            <a:ext cx="1735406" cy="173540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3" id="13"/>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14" id="14"/>
          <p:cNvSpPr/>
          <p:nvPr/>
        </p:nvSpPr>
        <p:spPr>
          <a:xfrm flipH="false" flipV="false" rot="0">
            <a:off x="5642636" y="2177975"/>
            <a:ext cx="3502943" cy="3448587"/>
          </a:xfrm>
          <a:custGeom>
            <a:avLst/>
            <a:gdLst/>
            <a:ahLst/>
            <a:cxnLst/>
            <a:rect r="r" b="b" t="t" l="l"/>
            <a:pathLst>
              <a:path h="3448587" w="3502943">
                <a:moveTo>
                  <a:pt x="0" y="0"/>
                </a:moveTo>
                <a:lnTo>
                  <a:pt x="3502943" y="0"/>
                </a:lnTo>
                <a:lnTo>
                  <a:pt x="3502943" y="3448587"/>
                </a:lnTo>
                <a:lnTo>
                  <a:pt x="0" y="3448587"/>
                </a:lnTo>
                <a:lnTo>
                  <a:pt x="0" y="0"/>
                </a:lnTo>
                <a:close/>
              </a:path>
            </a:pathLst>
          </a:custGeom>
          <a:blipFill>
            <a:blip r:embed="rId6"/>
            <a:stretch>
              <a:fillRect l="0" t="0" r="0" b="0"/>
            </a:stretch>
          </a:blipFill>
        </p:spPr>
      </p:sp>
      <p:sp>
        <p:nvSpPr>
          <p:cNvPr name="TextBox 15" id="15"/>
          <p:cNvSpPr txBox="true"/>
          <p:nvPr/>
        </p:nvSpPr>
        <p:spPr>
          <a:xfrm rot="0">
            <a:off x="731520" y="1424951"/>
            <a:ext cx="4510647" cy="5991493"/>
          </a:xfrm>
          <a:prstGeom prst="rect">
            <a:avLst/>
          </a:prstGeom>
        </p:spPr>
        <p:txBody>
          <a:bodyPr anchor="t" rtlCol="false" tIns="0" lIns="0" bIns="0" rIns="0">
            <a:spAutoFit/>
          </a:bodyPr>
          <a:lstStyle/>
          <a:p>
            <a:pPr algn="just">
              <a:lnSpc>
                <a:spcPts val="2682"/>
              </a:lnSpc>
            </a:pPr>
            <a:r>
              <a:rPr lang="en-US" sz="1800">
                <a:solidFill>
                  <a:srgbClr val="000000"/>
                </a:solidFill>
                <a:latin typeface="Faustina"/>
                <a:ea typeface="Faustina"/>
                <a:cs typeface="Faustina"/>
                <a:sym typeface="Faustina"/>
              </a:rPr>
              <a:t>         Game mê cung là một trò chơi giải đố, trong đó agent cần tìm đường đi từ điểm bắt đầu</a:t>
            </a:r>
            <a:r>
              <a:rPr lang="en-US" sz="1800">
                <a:solidFill>
                  <a:srgbClr val="000000"/>
                </a:solidFill>
                <a:latin typeface="Faustina"/>
                <a:ea typeface="Faustina"/>
                <a:cs typeface="Faustina"/>
                <a:sym typeface="Faustina"/>
              </a:rPr>
              <a:t> đến đích </a:t>
            </a:r>
            <a:r>
              <a:rPr lang="en-US" sz="1800">
                <a:solidFill>
                  <a:srgbClr val="000000"/>
                </a:solidFill>
                <a:latin typeface="Faustina"/>
                <a:ea typeface="Faustina"/>
                <a:cs typeface="Faustina"/>
                <a:sym typeface="Faustina"/>
              </a:rPr>
              <a:t>m</a:t>
            </a:r>
            <a:r>
              <a:rPr lang="en-US" sz="1800">
                <a:solidFill>
                  <a:srgbClr val="000000"/>
                </a:solidFill>
                <a:latin typeface="Faustina"/>
                <a:ea typeface="Faustina"/>
                <a:cs typeface="Faustina"/>
                <a:sym typeface="Faustina"/>
              </a:rPr>
              <a:t>à không đi qua tường và phần thưởng cuối cùng là lớn nhất.</a:t>
            </a:r>
          </a:p>
          <a:p>
            <a:pPr algn="l">
              <a:lnSpc>
                <a:spcPts val="2682"/>
              </a:lnSpc>
            </a:pPr>
          </a:p>
          <a:p>
            <a:pPr algn="l">
              <a:lnSpc>
                <a:spcPts val="2682"/>
              </a:lnSpc>
            </a:pPr>
            <a:r>
              <a:rPr lang="en-US" sz="1800">
                <a:solidFill>
                  <a:srgbClr val="000000"/>
                </a:solidFill>
                <a:latin typeface="Faustina"/>
                <a:ea typeface="Faustina"/>
                <a:cs typeface="Faustina"/>
                <a:sym typeface="Faustina"/>
              </a:rPr>
              <a:t>           </a:t>
            </a:r>
            <a:r>
              <a:rPr lang="en-US" sz="1800" b="true">
                <a:solidFill>
                  <a:srgbClr val="000000"/>
                </a:solidFill>
                <a:latin typeface="Faustina Bold"/>
                <a:ea typeface="Faustina Bold"/>
                <a:cs typeface="Faustina Bold"/>
                <a:sym typeface="Faustina Bold"/>
              </a:rPr>
              <a:t>    Thành phần:</a:t>
            </a:r>
          </a:p>
          <a:p>
            <a:pPr algn="just" marL="388620" indent="-194310" lvl="1">
              <a:lnSpc>
                <a:spcPts val="2682"/>
              </a:lnSpc>
              <a:buFont typeface="Arial"/>
              <a:buChar char="•"/>
            </a:pPr>
            <a:r>
              <a:rPr lang="en-US" b="true" sz="1800">
                <a:solidFill>
                  <a:srgbClr val="000000"/>
                </a:solidFill>
                <a:latin typeface="Faustina Bold"/>
                <a:ea typeface="Faustina Bold"/>
                <a:cs typeface="Faustina Bold"/>
                <a:sym typeface="Faustina Bold"/>
              </a:rPr>
              <a:t>Trạng thái</a:t>
            </a:r>
            <a:r>
              <a:rPr lang="en-US" sz="1800">
                <a:solidFill>
                  <a:srgbClr val="000000"/>
                </a:solidFill>
                <a:latin typeface="Faustina"/>
                <a:ea typeface="Faustina"/>
                <a:cs typeface="Faustina"/>
                <a:sym typeface="Faustina"/>
              </a:rPr>
              <a:t>: Vị trí của agent trên bản đồ, đặc điểm môi trường xung quanh và khoảng cách đến đích. </a:t>
            </a:r>
          </a:p>
          <a:p>
            <a:pPr algn="just" marL="388620" indent="-194310" lvl="1">
              <a:lnSpc>
                <a:spcPts val="2682"/>
              </a:lnSpc>
              <a:buFont typeface="Arial"/>
              <a:buChar char="•"/>
            </a:pPr>
            <a:r>
              <a:rPr lang="en-US" b="true" sz="1800">
                <a:solidFill>
                  <a:srgbClr val="000000"/>
                </a:solidFill>
                <a:latin typeface="Faustina Bold"/>
                <a:ea typeface="Faustina Bold"/>
                <a:cs typeface="Faustina Bold"/>
                <a:sym typeface="Faustina Bold"/>
              </a:rPr>
              <a:t>Hành động:</a:t>
            </a:r>
            <a:r>
              <a:rPr lang="en-US" sz="1800">
                <a:solidFill>
                  <a:srgbClr val="000000"/>
                </a:solidFill>
                <a:latin typeface="Faustina"/>
                <a:ea typeface="Faustina"/>
                <a:cs typeface="Faustina"/>
                <a:sym typeface="Faustina"/>
              </a:rPr>
              <a:t> Agent di chuyển lên xuống, qua trái, qua phải trên bản đồ mê cung </a:t>
            </a:r>
          </a:p>
          <a:p>
            <a:pPr algn="just" marL="388620" indent="-194310" lvl="1">
              <a:lnSpc>
                <a:spcPts val="2682"/>
              </a:lnSpc>
              <a:buFont typeface="Arial"/>
              <a:buChar char="•"/>
            </a:pPr>
            <a:r>
              <a:rPr lang="en-US" b="true" sz="1800">
                <a:solidFill>
                  <a:srgbClr val="000000"/>
                </a:solidFill>
                <a:latin typeface="Faustina Bold"/>
                <a:ea typeface="Faustina Bold"/>
                <a:cs typeface="Faustina Bold"/>
                <a:sym typeface="Faustina Bold"/>
              </a:rPr>
              <a:t>Phần thưởng: </a:t>
            </a:r>
            <a:r>
              <a:rPr lang="en-US" sz="1800">
                <a:solidFill>
                  <a:srgbClr val="000000"/>
                </a:solidFill>
                <a:latin typeface="Faustina"/>
                <a:ea typeface="Faustina"/>
                <a:cs typeface="Faustina"/>
                <a:sym typeface="Faustina"/>
              </a:rPr>
              <a:t>Mỗi lần di chuyển, phần thưởng sẽ -10, khi di chuyển sang vị trí là tường thì -1000, kh di chuyển sang vị trí có bom thì -100, khi đến đích sẽ được +100</a:t>
            </a:r>
          </a:p>
          <a:p>
            <a:pPr algn="l">
              <a:lnSpc>
                <a:spcPts val="2682"/>
              </a:lnSpc>
            </a:pPr>
          </a:p>
          <a:p>
            <a:pPr algn="l">
              <a:lnSpc>
                <a:spcPts val="2682"/>
              </a:lnSpc>
            </a:pPr>
          </a:p>
          <a:p>
            <a:pPr algn="l">
              <a:lnSpc>
                <a:spcPts val="2682"/>
              </a:lnSpc>
            </a:pPr>
          </a:p>
        </p:txBody>
      </p:sp>
      <p:sp>
        <p:nvSpPr>
          <p:cNvPr name="TextBox 16" id="16"/>
          <p:cNvSpPr txBox="true"/>
          <p:nvPr/>
        </p:nvSpPr>
        <p:spPr>
          <a:xfrm rot="0">
            <a:off x="8881306" y="6184853"/>
            <a:ext cx="272375" cy="700432"/>
          </a:xfrm>
          <a:prstGeom prst="rect">
            <a:avLst/>
          </a:prstGeom>
        </p:spPr>
        <p:txBody>
          <a:bodyPr anchor="t" rtlCol="false" tIns="0" lIns="0" bIns="0" rIns="0" wrap="none">
            <a:spAutoFit/>
          </a:bodyPr>
          <a:lstStyle/>
          <a:p>
            <a:pPr algn="ctr">
              <a:lnSpc>
                <a:spcPts val="5795"/>
              </a:lnSpc>
              <a:spcBef>
                <a:spcPct val="0"/>
              </a:spcBef>
            </a:pPr>
            <a:r>
              <a:rPr lang="en-US" sz="4139">
                <a:solidFill>
                  <a:srgbClr val="000000"/>
                </a:solidFill>
                <a:latin typeface="Paytone One"/>
                <a:ea typeface="Paytone One"/>
                <a:cs typeface="Paytone One"/>
                <a:sym typeface="Paytone One"/>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994829" y="1595513"/>
            <a:ext cx="7646952" cy="4807645"/>
            <a:chOff x="0" y="0"/>
            <a:chExt cx="2832204" cy="1780609"/>
          </a:xfrm>
        </p:grpSpPr>
        <p:sp>
          <p:nvSpPr>
            <p:cNvPr name="Freeform 4" id="4"/>
            <p:cNvSpPr/>
            <p:nvPr/>
          </p:nvSpPr>
          <p:spPr>
            <a:xfrm flipH="false" flipV="false" rot="0">
              <a:off x="0" y="0"/>
              <a:ext cx="2832204" cy="1780609"/>
            </a:xfrm>
            <a:custGeom>
              <a:avLst/>
              <a:gdLst/>
              <a:ahLst/>
              <a:cxnLst/>
              <a:rect r="r" b="b" t="t" l="l"/>
              <a:pathLst>
                <a:path h="1780609" w="2832204">
                  <a:moveTo>
                    <a:pt x="36447" y="0"/>
                  </a:moveTo>
                  <a:lnTo>
                    <a:pt x="2795757" y="0"/>
                  </a:lnTo>
                  <a:cubicBezTo>
                    <a:pt x="2815886" y="0"/>
                    <a:pt x="2832204" y="16318"/>
                    <a:pt x="2832204" y="36447"/>
                  </a:cubicBezTo>
                  <a:lnTo>
                    <a:pt x="2832204" y="1744162"/>
                  </a:lnTo>
                  <a:cubicBezTo>
                    <a:pt x="2832204" y="1764291"/>
                    <a:pt x="2815886" y="1780609"/>
                    <a:pt x="2795757" y="1780609"/>
                  </a:cubicBezTo>
                  <a:lnTo>
                    <a:pt x="36447" y="1780609"/>
                  </a:lnTo>
                  <a:cubicBezTo>
                    <a:pt x="16318" y="1780609"/>
                    <a:pt x="0" y="1764291"/>
                    <a:pt x="0" y="1744162"/>
                  </a:cubicBezTo>
                  <a:lnTo>
                    <a:pt x="0" y="36447"/>
                  </a:lnTo>
                  <a:cubicBezTo>
                    <a:pt x="0" y="16318"/>
                    <a:pt x="16318" y="0"/>
                    <a:pt x="36447" y="0"/>
                  </a:cubicBezTo>
                  <a:close/>
                </a:path>
              </a:pathLst>
            </a:custGeom>
            <a:solidFill>
              <a:srgbClr val="2B4CC0"/>
            </a:solidFill>
          </p:spPr>
        </p:sp>
        <p:sp>
          <p:nvSpPr>
            <p:cNvPr name="TextBox 5" id="5"/>
            <p:cNvSpPr txBox="true"/>
            <p:nvPr/>
          </p:nvSpPr>
          <p:spPr>
            <a:xfrm>
              <a:off x="0" y="38100"/>
              <a:ext cx="2832204" cy="1742509"/>
            </a:xfrm>
            <a:prstGeom prst="rect">
              <a:avLst/>
            </a:prstGeom>
          </p:spPr>
          <p:txBody>
            <a:bodyPr anchor="ctr" rtlCol="false" tIns="50800" lIns="50800" bIns="50800" rIns="50800"/>
            <a:lstStyle/>
            <a:p>
              <a:pPr algn="ctr">
                <a:lnSpc>
                  <a:spcPts val="1620"/>
                </a:lnSpc>
              </a:pPr>
            </a:p>
          </p:txBody>
        </p:sp>
      </p:grpSp>
      <p:grpSp>
        <p:nvGrpSpPr>
          <p:cNvPr name="Group 6" id="6"/>
          <p:cNvGrpSpPr/>
          <p:nvPr/>
        </p:nvGrpSpPr>
        <p:grpSpPr>
          <a:xfrm rot="0">
            <a:off x="1184979" y="4970741"/>
            <a:ext cx="7383643" cy="564994"/>
            <a:chOff x="0" y="0"/>
            <a:chExt cx="1748856" cy="133822"/>
          </a:xfrm>
        </p:grpSpPr>
        <p:sp>
          <p:nvSpPr>
            <p:cNvPr name="Freeform 7" id="7"/>
            <p:cNvSpPr/>
            <p:nvPr/>
          </p:nvSpPr>
          <p:spPr>
            <a:xfrm flipH="false" flipV="false" rot="0">
              <a:off x="0" y="0"/>
              <a:ext cx="1748856" cy="133822"/>
            </a:xfrm>
            <a:custGeom>
              <a:avLst/>
              <a:gdLst/>
              <a:ahLst/>
              <a:cxnLst/>
              <a:rect r="r" b="b" t="t" l="l"/>
              <a:pathLst>
                <a:path h="133822" w="1748856">
                  <a:moveTo>
                    <a:pt x="41941" y="0"/>
                  </a:moveTo>
                  <a:lnTo>
                    <a:pt x="1706916" y="0"/>
                  </a:lnTo>
                  <a:cubicBezTo>
                    <a:pt x="1730079" y="0"/>
                    <a:pt x="1748856" y="18778"/>
                    <a:pt x="1748856" y="41941"/>
                  </a:cubicBezTo>
                  <a:lnTo>
                    <a:pt x="1748856" y="91881"/>
                  </a:lnTo>
                  <a:cubicBezTo>
                    <a:pt x="1748856" y="103005"/>
                    <a:pt x="1744438" y="113672"/>
                    <a:pt x="1736572" y="121538"/>
                  </a:cubicBezTo>
                  <a:cubicBezTo>
                    <a:pt x="1728707" y="129403"/>
                    <a:pt x="1718039" y="133822"/>
                    <a:pt x="1706916" y="133822"/>
                  </a:cubicBezTo>
                  <a:lnTo>
                    <a:pt x="41941" y="133822"/>
                  </a:lnTo>
                  <a:cubicBezTo>
                    <a:pt x="30817" y="133822"/>
                    <a:pt x="20150" y="129403"/>
                    <a:pt x="12284" y="121538"/>
                  </a:cubicBezTo>
                  <a:cubicBezTo>
                    <a:pt x="4419" y="113672"/>
                    <a:pt x="0" y="103005"/>
                    <a:pt x="0" y="91881"/>
                  </a:cubicBezTo>
                  <a:lnTo>
                    <a:pt x="0" y="41941"/>
                  </a:lnTo>
                  <a:cubicBezTo>
                    <a:pt x="0" y="30817"/>
                    <a:pt x="4419" y="20150"/>
                    <a:pt x="12284" y="12284"/>
                  </a:cubicBezTo>
                  <a:cubicBezTo>
                    <a:pt x="20150" y="4419"/>
                    <a:pt x="30817" y="0"/>
                    <a:pt x="41941" y="0"/>
                  </a:cubicBezTo>
                  <a:close/>
                </a:path>
              </a:pathLst>
            </a:custGeom>
            <a:blipFill>
              <a:blip r:embed="rId4"/>
              <a:stretch>
                <a:fillRect l="0" t="-16676" r="0" b="-16676"/>
              </a:stretch>
            </a:blipFill>
          </p:spPr>
        </p:sp>
      </p:grpSp>
      <p:sp>
        <p:nvSpPr>
          <p:cNvPr name="TextBox 8" id="8"/>
          <p:cNvSpPr txBox="true"/>
          <p:nvPr/>
        </p:nvSpPr>
        <p:spPr>
          <a:xfrm rot="0">
            <a:off x="1465866" y="730556"/>
            <a:ext cx="6468105" cy="512414"/>
          </a:xfrm>
          <a:prstGeom prst="rect">
            <a:avLst/>
          </a:prstGeom>
        </p:spPr>
        <p:txBody>
          <a:bodyPr anchor="t" rtlCol="false" tIns="0" lIns="0" bIns="0" rIns="0">
            <a:spAutoFit/>
          </a:bodyPr>
          <a:lstStyle/>
          <a:p>
            <a:pPr algn="l" marL="0" indent="0" lvl="0">
              <a:lnSpc>
                <a:spcPts val="3780"/>
              </a:lnSpc>
            </a:pPr>
            <a:r>
              <a:rPr lang="en-US" b="true" sz="4200">
                <a:solidFill>
                  <a:srgbClr val="1F3685"/>
                </a:solidFill>
                <a:latin typeface="Faustina Bold"/>
                <a:ea typeface="Faustina Bold"/>
                <a:cs typeface="Faustina Bold"/>
                <a:sym typeface="Faustina Bold"/>
              </a:rPr>
              <a:t>THUẬT TOÁN QLEARNING</a:t>
            </a:r>
          </a:p>
        </p:txBody>
      </p:sp>
      <p:grpSp>
        <p:nvGrpSpPr>
          <p:cNvPr name="Group 9" id="9"/>
          <p:cNvGrpSpPr/>
          <p:nvPr/>
        </p:nvGrpSpPr>
        <p:grpSpPr>
          <a:xfrm rot="0">
            <a:off x="7631981" y="-658579"/>
            <a:ext cx="2780198" cy="278019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1" id="11"/>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12" id="12"/>
          <p:cNvSpPr/>
          <p:nvPr/>
        </p:nvSpPr>
        <p:spPr>
          <a:xfrm flipH="false" flipV="false" rot="0">
            <a:off x="7631981" y="1242969"/>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0" y="6920028"/>
            <a:ext cx="9753600" cy="898183"/>
            <a:chOff x="0" y="0"/>
            <a:chExt cx="3612444" cy="332660"/>
          </a:xfrm>
        </p:grpSpPr>
        <p:sp>
          <p:nvSpPr>
            <p:cNvPr name="Freeform 14" id="14"/>
            <p:cNvSpPr/>
            <p:nvPr/>
          </p:nvSpPr>
          <p:spPr>
            <a:xfrm flipH="false" flipV="false" rot="0">
              <a:off x="0" y="0"/>
              <a:ext cx="3612445" cy="332660"/>
            </a:xfrm>
            <a:custGeom>
              <a:avLst/>
              <a:gdLst/>
              <a:ahLst/>
              <a:cxnLst/>
              <a:rect r="r" b="b" t="t" l="l"/>
              <a:pathLst>
                <a:path h="332660" w="3612445">
                  <a:moveTo>
                    <a:pt x="79375" y="0"/>
                  </a:moveTo>
                  <a:lnTo>
                    <a:pt x="3533070" y="0"/>
                  </a:lnTo>
                  <a:cubicBezTo>
                    <a:pt x="3554121" y="0"/>
                    <a:pt x="3574311" y="8363"/>
                    <a:pt x="3589196" y="23248"/>
                  </a:cubicBezTo>
                  <a:cubicBezTo>
                    <a:pt x="3604082" y="38134"/>
                    <a:pt x="3612445" y="58323"/>
                    <a:pt x="3612445" y="79375"/>
                  </a:cubicBezTo>
                  <a:lnTo>
                    <a:pt x="3612445" y="253285"/>
                  </a:lnTo>
                  <a:cubicBezTo>
                    <a:pt x="3612445" y="274337"/>
                    <a:pt x="3604082" y="294526"/>
                    <a:pt x="3589196" y="309412"/>
                  </a:cubicBezTo>
                  <a:cubicBezTo>
                    <a:pt x="3574311" y="324298"/>
                    <a:pt x="3554121" y="332660"/>
                    <a:pt x="3533070" y="332660"/>
                  </a:cubicBezTo>
                  <a:lnTo>
                    <a:pt x="79375" y="332660"/>
                  </a:lnTo>
                  <a:cubicBezTo>
                    <a:pt x="35537" y="332660"/>
                    <a:pt x="0" y="297123"/>
                    <a:pt x="0" y="253285"/>
                  </a:cubicBezTo>
                  <a:lnTo>
                    <a:pt x="0" y="79375"/>
                  </a:lnTo>
                  <a:cubicBezTo>
                    <a:pt x="0" y="35537"/>
                    <a:pt x="35537" y="0"/>
                    <a:pt x="79375" y="0"/>
                  </a:cubicBezTo>
                  <a:close/>
                </a:path>
              </a:pathLst>
            </a:custGeom>
            <a:solidFill>
              <a:srgbClr val="DFE9FF"/>
            </a:solidFill>
          </p:spPr>
        </p:sp>
        <p:sp>
          <p:nvSpPr>
            <p:cNvPr name="TextBox 15" id="15"/>
            <p:cNvSpPr txBox="true"/>
            <p:nvPr/>
          </p:nvSpPr>
          <p:spPr>
            <a:xfrm>
              <a:off x="0" y="38100"/>
              <a:ext cx="3612444" cy="294560"/>
            </a:xfrm>
            <a:prstGeom prst="rect">
              <a:avLst/>
            </a:prstGeom>
          </p:spPr>
          <p:txBody>
            <a:bodyPr anchor="ctr" rtlCol="false" tIns="50800" lIns="50800" bIns="50800" rIns="50800"/>
            <a:lstStyle/>
            <a:p>
              <a:pPr algn="ctr">
                <a:lnSpc>
                  <a:spcPts val="1620"/>
                </a:lnSpc>
              </a:pPr>
            </a:p>
          </p:txBody>
        </p:sp>
      </p:grpSp>
      <p:sp>
        <p:nvSpPr>
          <p:cNvPr name="TextBox 16" id="16"/>
          <p:cNvSpPr txBox="true"/>
          <p:nvPr/>
        </p:nvSpPr>
        <p:spPr>
          <a:xfrm rot="0">
            <a:off x="1430313" y="1978744"/>
            <a:ext cx="6873925" cy="2720934"/>
          </a:xfrm>
          <a:prstGeom prst="rect">
            <a:avLst/>
          </a:prstGeom>
        </p:spPr>
        <p:txBody>
          <a:bodyPr anchor="t" rtlCol="false" tIns="0" lIns="0" bIns="0" rIns="0">
            <a:spAutoFit/>
          </a:bodyPr>
          <a:lstStyle/>
          <a:p>
            <a:pPr algn="just">
              <a:lnSpc>
                <a:spcPts val="4374"/>
              </a:lnSpc>
            </a:pPr>
            <a:r>
              <a:rPr lang="en-US" sz="2499">
                <a:solidFill>
                  <a:srgbClr val="FFFFFF"/>
                </a:solidFill>
                <a:latin typeface="Inter"/>
                <a:ea typeface="Inter"/>
                <a:cs typeface="Inter"/>
                <a:sym typeface="Inter"/>
              </a:rPr>
              <a:t>Q-Learning là một thuật toán Học tăng cường dựa trên bảng  Q table, giúp một agent học cách hành động tối ưu trong môi trường mà không cần mô hình trước đó. </a:t>
            </a:r>
          </a:p>
          <a:p>
            <a:pPr algn="just">
              <a:lnSpc>
                <a:spcPts val="4374"/>
              </a:lnSpc>
            </a:pPr>
            <a:r>
              <a:rPr lang="en-US" sz="2499">
                <a:solidFill>
                  <a:srgbClr val="FFFFFF"/>
                </a:solidFill>
                <a:latin typeface="Inter"/>
                <a:ea typeface="Inter"/>
                <a:cs typeface="Inter"/>
                <a:sym typeface="Inter"/>
              </a:rPr>
              <a:t>Công thức:</a:t>
            </a:r>
          </a:p>
        </p:txBody>
      </p:sp>
      <p:sp>
        <p:nvSpPr>
          <p:cNvPr name="TextBox 17" id="17"/>
          <p:cNvSpPr txBox="true"/>
          <p:nvPr/>
        </p:nvSpPr>
        <p:spPr>
          <a:xfrm rot="0">
            <a:off x="8854875" y="6118384"/>
            <a:ext cx="300065" cy="766901"/>
          </a:xfrm>
          <a:prstGeom prst="rect">
            <a:avLst/>
          </a:prstGeom>
        </p:spPr>
        <p:txBody>
          <a:bodyPr anchor="t" rtlCol="false" tIns="0" lIns="0" bIns="0" rIns="0" wrap="none">
            <a:spAutoFit/>
          </a:bodyPr>
          <a:lstStyle/>
          <a:p>
            <a:pPr algn="ctr">
              <a:lnSpc>
                <a:spcPts val="6323"/>
              </a:lnSpc>
              <a:spcBef>
                <a:spcPct val="0"/>
              </a:spcBef>
            </a:pPr>
            <a:r>
              <a:rPr lang="en-US" sz="4517">
                <a:solidFill>
                  <a:srgbClr val="000000"/>
                </a:solidFill>
                <a:latin typeface="Paytone One"/>
                <a:ea typeface="Paytone One"/>
                <a:cs typeface="Paytone One"/>
                <a:sym typeface="Paytone One"/>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994829" y="1595513"/>
            <a:ext cx="7646952" cy="4807645"/>
            <a:chOff x="0" y="0"/>
            <a:chExt cx="2832204" cy="1780609"/>
          </a:xfrm>
        </p:grpSpPr>
        <p:sp>
          <p:nvSpPr>
            <p:cNvPr name="Freeform 4" id="4"/>
            <p:cNvSpPr/>
            <p:nvPr/>
          </p:nvSpPr>
          <p:spPr>
            <a:xfrm flipH="false" flipV="false" rot="0">
              <a:off x="0" y="0"/>
              <a:ext cx="2832204" cy="1780609"/>
            </a:xfrm>
            <a:custGeom>
              <a:avLst/>
              <a:gdLst/>
              <a:ahLst/>
              <a:cxnLst/>
              <a:rect r="r" b="b" t="t" l="l"/>
              <a:pathLst>
                <a:path h="1780609" w="2832204">
                  <a:moveTo>
                    <a:pt x="36447" y="0"/>
                  </a:moveTo>
                  <a:lnTo>
                    <a:pt x="2795757" y="0"/>
                  </a:lnTo>
                  <a:cubicBezTo>
                    <a:pt x="2815886" y="0"/>
                    <a:pt x="2832204" y="16318"/>
                    <a:pt x="2832204" y="36447"/>
                  </a:cubicBezTo>
                  <a:lnTo>
                    <a:pt x="2832204" y="1744162"/>
                  </a:lnTo>
                  <a:cubicBezTo>
                    <a:pt x="2832204" y="1764291"/>
                    <a:pt x="2815886" y="1780609"/>
                    <a:pt x="2795757" y="1780609"/>
                  </a:cubicBezTo>
                  <a:lnTo>
                    <a:pt x="36447" y="1780609"/>
                  </a:lnTo>
                  <a:cubicBezTo>
                    <a:pt x="16318" y="1780609"/>
                    <a:pt x="0" y="1764291"/>
                    <a:pt x="0" y="1744162"/>
                  </a:cubicBezTo>
                  <a:lnTo>
                    <a:pt x="0" y="36447"/>
                  </a:lnTo>
                  <a:cubicBezTo>
                    <a:pt x="0" y="16318"/>
                    <a:pt x="16318" y="0"/>
                    <a:pt x="36447" y="0"/>
                  </a:cubicBezTo>
                  <a:close/>
                </a:path>
              </a:pathLst>
            </a:custGeom>
            <a:solidFill>
              <a:srgbClr val="2B4CC0"/>
            </a:solidFill>
          </p:spPr>
        </p:sp>
        <p:sp>
          <p:nvSpPr>
            <p:cNvPr name="TextBox 5" id="5"/>
            <p:cNvSpPr txBox="true"/>
            <p:nvPr/>
          </p:nvSpPr>
          <p:spPr>
            <a:xfrm>
              <a:off x="0" y="38100"/>
              <a:ext cx="2832204" cy="1742509"/>
            </a:xfrm>
            <a:prstGeom prst="rect">
              <a:avLst/>
            </a:prstGeom>
          </p:spPr>
          <p:txBody>
            <a:bodyPr anchor="ctr" rtlCol="false" tIns="50800" lIns="50800" bIns="50800" rIns="50800"/>
            <a:lstStyle/>
            <a:p>
              <a:pPr algn="ctr">
                <a:lnSpc>
                  <a:spcPts val="1620"/>
                </a:lnSpc>
              </a:pPr>
            </a:p>
          </p:txBody>
        </p:sp>
      </p:grpSp>
      <p:sp>
        <p:nvSpPr>
          <p:cNvPr name="TextBox 6" id="6"/>
          <p:cNvSpPr txBox="true"/>
          <p:nvPr/>
        </p:nvSpPr>
        <p:spPr>
          <a:xfrm rot="0">
            <a:off x="1465866" y="730556"/>
            <a:ext cx="6468105" cy="512414"/>
          </a:xfrm>
          <a:prstGeom prst="rect">
            <a:avLst/>
          </a:prstGeom>
        </p:spPr>
        <p:txBody>
          <a:bodyPr anchor="t" rtlCol="false" tIns="0" lIns="0" bIns="0" rIns="0">
            <a:spAutoFit/>
          </a:bodyPr>
          <a:lstStyle/>
          <a:p>
            <a:pPr algn="l" marL="0" indent="0" lvl="0">
              <a:lnSpc>
                <a:spcPts val="3780"/>
              </a:lnSpc>
            </a:pPr>
            <a:r>
              <a:rPr lang="en-US" b="true" sz="4200">
                <a:solidFill>
                  <a:srgbClr val="1F3685"/>
                </a:solidFill>
                <a:latin typeface="Faustina Bold"/>
                <a:ea typeface="Faustina Bold"/>
                <a:cs typeface="Faustina Bold"/>
                <a:sym typeface="Faustina Bold"/>
              </a:rPr>
              <a:t>THUẬT TOÁN QLEARNING</a:t>
            </a:r>
          </a:p>
        </p:txBody>
      </p:sp>
      <p:grpSp>
        <p:nvGrpSpPr>
          <p:cNvPr name="Group 7" id="7"/>
          <p:cNvGrpSpPr/>
          <p:nvPr/>
        </p:nvGrpSpPr>
        <p:grpSpPr>
          <a:xfrm rot="0">
            <a:off x="7631981" y="-658579"/>
            <a:ext cx="2780198" cy="27801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9" id="9"/>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10" id="10"/>
          <p:cNvSpPr/>
          <p:nvPr/>
        </p:nvSpPr>
        <p:spPr>
          <a:xfrm flipH="false" flipV="false" rot="0">
            <a:off x="7631981" y="1242969"/>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175454" y="2008372"/>
            <a:ext cx="7383643" cy="564994"/>
            <a:chOff x="0" y="0"/>
            <a:chExt cx="1748856" cy="133822"/>
          </a:xfrm>
        </p:grpSpPr>
        <p:sp>
          <p:nvSpPr>
            <p:cNvPr name="Freeform 12" id="12"/>
            <p:cNvSpPr/>
            <p:nvPr/>
          </p:nvSpPr>
          <p:spPr>
            <a:xfrm flipH="false" flipV="false" rot="0">
              <a:off x="0" y="0"/>
              <a:ext cx="1748856" cy="133822"/>
            </a:xfrm>
            <a:custGeom>
              <a:avLst/>
              <a:gdLst/>
              <a:ahLst/>
              <a:cxnLst/>
              <a:rect r="r" b="b" t="t" l="l"/>
              <a:pathLst>
                <a:path h="133822" w="1748856">
                  <a:moveTo>
                    <a:pt x="41941" y="0"/>
                  </a:moveTo>
                  <a:lnTo>
                    <a:pt x="1706916" y="0"/>
                  </a:lnTo>
                  <a:cubicBezTo>
                    <a:pt x="1730079" y="0"/>
                    <a:pt x="1748856" y="18778"/>
                    <a:pt x="1748856" y="41941"/>
                  </a:cubicBezTo>
                  <a:lnTo>
                    <a:pt x="1748856" y="91881"/>
                  </a:lnTo>
                  <a:cubicBezTo>
                    <a:pt x="1748856" y="103005"/>
                    <a:pt x="1744438" y="113672"/>
                    <a:pt x="1736572" y="121538"/>
                  </a:cubicBezTo>
                  <a:cubicBezTo>
                    <a:pt x="1728707" y="129403"/>
                    <a:pt x="1718039" y="133822"/>
                    <a:pt x="1706916" y="133822"/>
                  </a:cubicBezTo>
                  <a:lnTo>
                    <a:pt x="41941" y="133822"/>
                  </a:lnTo>
                  <a:cubicBezTo>
                    <a:pt x="30817" y="133822"/>
                    <a:pt x="20150" y="129403"/>
                    <a:pt x="12284" y="121538"/>
                  </a:cubicBezTo>
                  <a:cubicBezTo>
                    <a:pt x="4419" y="113672"/>
                    <a:pt x="0" y="103005"/>
                    <a:pt x="0" y="91881"/>
                  </a:cubicBezTo>
                  <a:lnTo>
                    <a:pt x="0" y="41941"/>
                  </a:lnTo>
                  <a:cubicBezTo>
                    <a:pt x="0" y="30817"/>
                    <a:pt x="4419" y="20150"/>
                    <a:pt x="12284" y="12284"/>
                  </a:cubicBezTo>
                  <a:cubicBezTo>
                    <a:pt x="20150" y="4419"/>
                    <a:pt x="30817" y="0"/>
                    <a:pt x="41941" y="0"/>
                  </a:cubicBezTo>
                  <a:close/>
                </a:path>
              </a:pathLst>
            </a:custGeom>
            <a:blipFill>
              <a:blip r:embed="rId6"/>
              <a:stretch>
                <a:fillRect l="0" t="-16676" r="0" b="-16676"/>
              </a:stretch>
            </a:blipFill>
          </p:spPr>
        </p:sp>
      </p:grpSp>
      <p:grpSp>
        <p:nvGrpSpPr>
          <p:cNvPr name="Group 13" id="13"/>
          <p:cNvGrpSpPr/>
          <p:nvPr/>
        </p:nvGrpSpPr>
        <p:grpSpPr>
          <a:xfrm rot="0">
            <a:off x="0" y="6920028"/>
            <a:ext cx="9753600" cy="898183"/>
            <a:chOff x="0" y="0"/>
            <a:chExt cx="3612444" cy="332660"/>
          </a:xfrm>
        </p:grpSpPr>
        <p:sp>
          <p:nvSpPr>
            <p:cNvPr name="Freeform 14" id="14"/>
            <p:cNvSpPr/>
            <p:nvPr/>
          </p:nvSpPr>
          <p:spPr>
            <a:xfrm flipH="false" flipV="false" rot="0">
              <a:off x="0" y="0"/>
              <a:ext cx="3612445" cy="332660"/>
            </a:xfrm>
            <a:custGeom>
              <a:avLst/>
              <a:gdLst/>
              <a:ahLst/>
              <a:cxnLst/>
              <a:rect r="r" b="b" t="t" l="l"/>
              <a:pathLst>
                <a:path h="332660" w="3612445">
                  <a:moveTo>
                    <a:pt x="79375" y="0"/>
                  </a:moveTo>
                  <a:lnTo>
                    <a:pt x="3533070" y="0"/>
                  </a:lnTo>
                  <a:cubicBezTo>
                    <a:pt x="3554121" y="0"/>
                    <a:pt x="3574311" y="8363"/>
                    <a:pt x="3589196" y="23248"/>
                  </a:cubicBezTo>
                  <a:cubicBezTo>
                    <a:pt x="3604082" y="38134"/>
                    <a:pt x="3612445" y="58323"/>
                    <a:pt x="3612445" y="79375"/>
                  </a:cubicBezTo>
                  <a:lnTo>
                    <a:pt x="3612445" y="253285"/>
                  </a:lnTo>
                  <a:cubicBezTo>
                    <a:pt x="3612445" y="274337"/>
                    <a:pt x="3604082" y="294526"/>
                    <a:pt x="3589196" y="309412"/>
                  </a:cubicBezTo>
                  <a:cubicBezTo>
                    <a:pt x="3574311" y="324298"/>
                    <a:pt x="3554121" y="332660"/>
                    <a:pt x="3533070" y="332660"/>
                  </a:cubicBezTo>
                  <a:lnTo>
                    <a:pt x="79375" y="332660"/>
                  </a:lnTo>
                  <a:cubicBezTo>
                    <a:pt x="35537" y="332660"/>
                    <a:pt x="0" y="297123"/>
                    <a:pt x="0" y="253285"/>
                  </a:cubicBezTo>
                  <a:lnTo>
                    <a:pt x="0" y="79375"/>
                  </a:lnTo>
                  <a:cubicBezTo>
                    <a:pt x="0" y="35537"/>
                    <a:pt x="35537" y="0"/>
                    <a:pt x="79375" y="0"/>
                  </a:cubicBezTo>
                  <a:close/>
                </a:path>
              </a:pathLst>
            </a:custGeom>
            <a:solidFill>
              <a:srgbClr val="DFE9FF"/>
            </a:solidFill>
          </p:spPr>
        </p:sp>
        <p:sp>
          <p:nvSpPr>
            <p:cNvPr name="TextBox 15" id="15"/>
            <p:cNvSpPr txBox="true"/>
            <p:nvPr/>
          </p:nvSpPr>
          <p:spPr>
            <a:xfrm>
              <a:off x="0" y="38100"/>
              <a:ext cx="3612444" cy="294560"/>
            </a:xfrm>
            <a:prstGeom prst="rect">
              <a:avLst/>
            </a:prstGeom>
          </p:spPr>
          <p:txBody>
            <a:bodyPr anchor="ctr" rtlCol="false" tIns="50800" lIns="50800" bIns="50800" rIns="50800"/>
            <a:lstStyle/>
            <a:p>
              <a:pPr algn="ctr">
                <a:lnSpc>
                  <a:spcPts val="1620"/>
                </a:lnSpc>
              </a:pPr>
            </a:p>
          </p:txBody>
        </p:sp>
      </p:grpSp>
      <p:sp>
        <p:nvSpPr>
          <p:cNvPr name="TextBox 16" id="16"/>
          <p:cNvSpPr txBox="true"/>
          <p:nvPr/>
        </p:nvSpPr>
        <p:spPr>
          <a:xfrm rot="0">
            <a:off x="1383053" y="2717083"/>
            <a:ext cx="6870504" cy="3887778"/>
          </a:xfrm>
          <a:prstGeom prst="rect">
            <a:avLst/>
          </a:prstGeom>
        </p:spPr>
        <p:txBody>
          <a:bodyPr anchor="t" rtlCol="false" tIns="0" lIns="0" bIns="0" rIns="0">
            <a:spAutoFit/>
          </a:bodyPr>
          <a:lstStyle/>
          <a:p>
            <a:pPr algn="just">
              <a:lnSpc>
                <a:spcPts val="3080"/>
              </a:lnSpc>
            </a:pPr>
            <a:r>
              <a:rPr lang="en-US" sz="2200">
                <a:solidFill>
                  <a:srgbClr val="FFFFFF"/>
                </a:solidFill>
                <a:latin typeface="Inter"/>
                <a:ea typeface="Inter"/>
                <a:cs typeface="Inter"/>
                <a:sym typeface="Inter"/>
              </a:rPr>
              <a:t> </a:t>
            </a:r>
            <a:r>
              <a:rPr lang="en-US" sz="2200">
                <a:solidFill>
                  <a:srgbClr val="FFFFFF"/>
                </a:solidFill>
                <a:latin typeface="Inter"/>
                <a:ea typeface="Inter"/>
                <a:cs typeface="Inter"/>
                <a:sym typeface="Inter"/>
              </a:rPr>
              <a:t>T</a:t>
            </a:r>
            <a:r>
              <a:rPr lang="en-US" sz="2200">
                <a:solidFill>
                  <a:srgbClr val="FFFFFF"/>
                </a:solidFill>
                <a:latin typeface="Inter"/>
                <a:ea typeface="Inter"/>
                <a:cs typeface="Inter"/>
                <a:sym typeface="Inter"/>
              </a:rPr>
              <a:t>rong đó:</a:t>
            </a:r>
          </a:p>
          <a:p>
            <a:pPr algn="just" marL="474981" indent="-237491" lvl="1">
              <a:lnSpc>
                <a:spcPts val="3080"/>
              </a:lnSpc>
              <a:buFont typeface="Arial"/>
              <a:buChar char="•"/>
            </a:pPr>
            <a:r>
              <a:rPr lang="en-US" sz="2200">
                <a:solidFill>
                  <a:srgbClr val="FFFFFF"/>
                </a:solidFill>
                <a:latin typeface="Inter"/>
                <a:ea typeface="Inter"/>
                <a:cs typeface="Inter"/>
                <a:sym typeface="Inter"/>
              </a:rPr>
              <a:t>s là trạng thái hiện tại (vị trí trong mê cung)</a:t>
            </a:r>
          </a:p>
          <a:p>
            <a:pPr algn="just" marL="474981" indent="-237491" lvl="1">
              <a:lnSpc>
                <a:spcPts val="3080"/>
              </a:lnSpc>
              <a:buFont typeface="Arial"/>
              <a:buChar char="•"/>
            </a:pPr>
            <a:r>
              <a:rPr lang="en-US" sz="2200">
                <a:solidFill>
                  <a:srgbClr val="FFFFFF"/>
                </a:solidFill>
                <a:latin typeface="Inter"/>
                <a:ea typeface="Inter"/>
                <a:cs typeface="Inter"/>
                <a:sym typeface="Inter"/>
              </a:rPr>
              <a:t>a là hành động (đi lên, xuống, trái, phải)</a:t>
            </a:r>
          </a:p>
          <a:p>
            <a:pPr algn="just" marL="474981" indent="-237491" lvl="1">
              <a:lnSpc>
                <a:spcPts val="3080"/>
              </a:lnSpc>
              <a:buFont typeface="Arial"/>
              <a:buChar char="•"/>
            </a:pPr>
            <a:r>
              <a:rPr lang="en-US" sz="2200">
                <a:solidFill>
                  <a:srgbClr val="FFFFFF"/>
                </a:solidFill>
                <a:latin typeface="Inter"/>
                <a:ea typeface="Inter"/>
                <a:cs typeface="Inter"/>
                <a:sym typeface="Inter"/>
              </a:rPr>
              <a:t>R là phần thưởng nhận được khi thực hiện hành động</a:t>
            </a:r>
          </a:p>
          <a:p>
            <a:pPr algn="just" marL="474981" indent="-237491" lvl="1">
              <a:lnSpc>
                <a:spcPts val="3080"/>
              </a:lnSpc>
              <a:buFont typeface="Arial"/>
              <a:buChar char="•"/>
            </a:pPr>
            <a:r>
              <a:rPr lang="en-US" sz="2200">
                <a:solidFill>
                  <a:srgbClr val="FFFFFF"/>
                </a:solidFill>
                <a:latin typeface="Inter"/>
                <a:ea typeface="Inter"/>
                <a:cs typeface="Inter"/>
                <a:sym typeface="Inter"/>
              </a:rPr>
              <a:t>alpha </a:t>
            </a:r>
            <a:r>
              <a:rPr lang="en-US" sz="2200">
                <a:solidFill>
                  <a:srgbClr val="FFFFFF"/>
                </a:solidFill>
                <a:latin typeface="Inter"/>
                <a:ea typeface="Inter"/>
                <a:cs typeface="Inter"/>
                <a:sym typeface="Inter"/>
              </a:rPr>
              <a:t>= 0.3 là hệ số học (learning rate)</a:t>
            </a:r>
          </a:p>
          <a:p>
            <a:pPr algn="just" marL="474981" indent="-237491" lvl="1">
              <a:lnSpc>
                <a:spcPts val="3080"/>
              </a:lnSpc>
              <a:buFont typeface="Arial"/>
              <a:buChar char="•"/>
            </a:pPr>
            <a:r>
              <a:rPr lang="en-US" sz="2200">
                <a:solidFill>
                  <a:srgbClr val="FFFFFF"/>
                </a:solidFill>
                <a:latin typeface="Inter"/>
                <a:ea typeface="Inter"/>
                <a:cs typeface="Inter"/>
                <a:sym typeface="Inter"/>
              </a:rPr>
              <a:t>gamma </a:t>
            </a:r>
            <a:r>
              <a:rPr lang="en-US" sz="2200">
                <a:solidFill>
                  <a:srgbClr val="FFFFFF"/>
                </a:solidFill>
                <a:latin typeface="Inter"/>
                <a:ea typeface="Inter"/>
                <a:cs typeface="Inter"/>
                <a:sym typeface="Inter"/>
              </a:rPr>
              <a:t>= 0.95 là hệ số chiết khấu</a:t>
            </a:r>
          </a:p>
          <a:p>
            <a:pPr algn="just" marL="474981" indent="-237491" lvl="1">
              <a:lnSpc>
                <a:spcPts val="3080"/>
              </a:lnSpc>
              <a:buFont typeface="Arial"/>
              <a:buChar char="•"/>
            </a:pPr>
            <a:r>
              <a:rPr lang="en-US" sz="2200">
                <a:solidFill>
                  <a:srgbClr val="FFFFFF"/>
                </a:solidFill>
                <a:latin typeface="Inter"/>
                <a:ea typeface="Inter"/>
                <a:cs typeface="Inter"/>
                <a:sym typeface="Inter"/>
              </a:rPr>
              <a:t>s' là trạng thái tiếp theo</a:t>
            </a:r>
          </a:p>
          <a:p>
            <a:pPr algn="just" marL="474981" indent="-237491" lvl="1">
              <a:lnSpc>
                <a:spcPts val="3080"/>
              </a:lnSpc>
              <a:buFont typeface="Arial"/>
              <a:buChar char="•"/>
            </a:pPr>
            <a:r>
              <a:rPr lang="en-US" sz="2200">
                <a:solidFill>
                  <a:srgbClr val="FFFFFF"/>
                </a:solidFill>
                <a:latin typeface="Inter"/>
                <a:ea typeface="Inter"/>
                <a:cs typeface="Inter"/>
                <a:sym typeface="Inter"/>
              </a:rPr>
              <a:t>a' là hành động tối ưu từ trạng thái </a:t>
            </a:r>
          </a:p>
          <a:p>
            <a:pPr algn="just">
              <a:lnSpc>
                <a:spcPts val="3080"/>
              </a:lnSpc>
            </a:pPr>
          </a:p>
        </p:txBody>
      </p:sp>
      <p:sp>
        <p:nvSpPr>
          <p:cNvPr name="TextBox 17" id="17"/>
          <p:cNvSpPr txBox="true"/>
          <p:nvPr/>
        </p:nvSpPr>
        <p:spPr>
          <a:xfrm rot="0">
            <a:off x="8843343" y="6154293"/>
            <a:ext cx="340073" cy="730991"/>
          </a:xfrm>
          <a:prstGeom prst="rect">
            <a:avLst/>
          </a:prstGeom>
        </p:spPr>
        <p:txBody>
          <a:bodyPr anchor="t" rtlCol="false" tIns="0" lIns="0" bIns="0" rIns="0" wrap="none">
            <a:spAutoFit/>
          </a:bodyPr>
          <a:lstStyle/>
          <a:p>
            <a:pPr algn="ctr">
              <a:lnSpc>
                <a:spcPts val="5902"/>
              </a:lnSpc>
              <a:spcBef>
                <a:spcPct val="0"/>
              </a:spcBef>
            </a:pPr>
            <a:r>
              <a:rPr lang="en-US" sz="4215">
                <a:solidFill>
                  <a:srgbClr val="000000"/>
                </a:solidFill>
                <a:latin typeface="Paytone One"/>
                <a:ea typeface="Paytone One"/>
                <a:cs typeface="Paytone One"/>
                <a:sym typeface="Paytone One"/>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5344173" y="3479423"/>
            <a:ext cx="7467828" cy="4941441"/>
          </a:xfrm>
          <a:custGeom>
            <a:avLst/>
            <a:gdLst/>
            <a:ahLst/>
            <a:cxnLst/>
            <a:rect r="r" b="b" t="t" l="l"/>
            <a:pathLst>
              <a:path h="4941441" w="7467828">
                <a:moveTo>
                  <a:pt x="7467828" y="0"/>
                </a:moveTo>
                <a:lnTo>
                  <a:pt x="0" y="0"/>
                </a:lnTo>
                <a:lnTo>
                  <a:pt x="0" y="4941441"/>
                </a:lnTo>
                <a:lnTo>
                  <a:pt x="7467828" y="4941441"/>
                </a:lnTo>
                <a:lnTo>
                  <a:pt x="74678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912307" y="4110296"/>
            <a:ext cx="876822" cy="87682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grpSp>
        <p:nvGrpSpPr>
          <p:cNvPr name="Group 6" id="6"/>
          <p:cNvGrpSpPr/>
          <p:nvPr/>
        </p:nvGrpSpPr>
        <p:grpSpPr>
          <a:xfrm rot="0">
            <a:off x="4912307" y="3151607"/>
            <a:ext cx="876822" cy="87682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9" id="9"/>
          <p:cNvSpPr/>
          <p:nvPr/>
        </p:nvSpPr>
        <p:spPr>
          <a:xfrm flipH="false" flipV="false" rot="0">
            <a:off x="-512907" y="1487343"/>
            <a:ext cx="1025814" cy="1025814"/>
          </a:xfrm>
          <a:custGeom>
            <a:avLst/>
            <a:gdLst/>
            <a:ahLst/>
            <a:cxnLst/>
            <a:rect r="r" b="b" t="t" l="l"/>
            <a:pathLst>
              <a:path h="1025814" w="1025814">
                <a:moveTo>
                  <a:pt x="0" y="0"/>
                </a:moveTo>
                <a:lnTo>
                  <a:pt x="1025814" y="0"/>
                </a:lnTo>
                <a:lnTo>
                  <a:pt x="1025814" y="1025814"/>
                </a:lnTo>
                <a:lnTo>
                  <a:pt x="0" y="1025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852376" y="5747660"/>
            <a:ext cx="1085820" cy="108582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2" id="12"/>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TextBox 13" id="13"/>
          <p:cNvSpPr txBox="true"/>
          <p:nvPr/>
        </p:nvSpPr>
        <p:spPr>
          <a:xfrm rot="0">
            <a:off x="961492" y="694862"/>
            <a:ext cx="7830616" cy="782956"/>
          </a:xfrm>
          <a:prstGeom prst="rect">
            <a:avLst/>
          </a:prstGeom>
        </p:spPr>
        <p:txBody>
          <a:bodyPr anchor="t" rtlCol="false" tIns="0" lIns="0" bIns="0" rIns="0">
            <a:spAutoFit/>
          </a:bodyPr>
          <a:lstStyle/>
          <a:p>
            <a:pPr algn="ctr" marL="0" indent="0" lvl="0">
              <a:lnSpc>
                <a:spcPts val="2970"/>
              </a:lnSpc>
            </a:pPr>
            <a:r>
              <a:rPr lang="en-US" b="true" sz="3300">
                <a:solidFill>
                  <a:srgbClr val="1F3685"/>
                </a:solidFill>
                <a:latin typeface="Faustina Bold"/>
                <a:ea typeface="Faustina Bold"/>
                <a:cs typeface="Faustina Bold"/>
                <a:sym typeface="Faustina Bold"/>
              </a:rPr>
              <a:t> VIPER - (VALUE ITERATION WITH IMITATION FOR POLICY EXPLANATION)</a:t>
            </a:r>
          </a:p>
        </p:txBody>
      </p:sp>
      <p:sp>
        <p:nvSpPr>
          <p:cNvPr name="TextBox 14" id="14"/>
          <p:cNvSpPr txBox="true"/>
          <p:nvPr/>
        </p:nvSpPr>
        <p:spPr>
          <a:xfrm rot="0">
            <a:off x="1090644" y="1611453"/>
            <a:ext cx="8043473" cy="2776348"/>
          </a:xfrm>
          <a:prstGeom prst="rect">
            <a:avLst/>
          </a:prstGeom>
        </p:spPr>
        <p:txBody>
          <a:bodyPr anchor="t" rtlCol="false" tIns="0" lIns="0" bIns="0" rIns="0">
            <a:spAutoFit/>
          </a:bodyPr>
          <a:lstStyle/>
          <a:p>
            <a:pPr algn="just">
              <a:lnSpc>
                <a:spcPts val="3743"/>
              </a:lnSpc>
            </a:pPr>
            <a:r>
              <a:rPr lang="en-US" sz="2399">
                <a:solidFill>
                  <a:srgbClr val="000000"/>
                </a:solidFill>
                <a:latin typeface="Inter"/>
                <a:ea typeface="Inter"/>
                <a:cs typeface="Inter"/>
                <a:sym typeface="Inter"/>
              </a:rPr>
              <a:t>VIPER  là một thuật toán sử dụng học tập bắt chước (imitation learning) để trích xuất chính sách từ một agent RL đã huấn luyện trước đó. Nó sử dụng cây quyết định (decision tree) để mô phỏng chính sách của agent, giúp con người dễ dàng hiểu cách agent đưa ra quyết định.</a:t>
            </a:r>
          </a:p>
        </p:txBody>
      </p:sp>
      <p:sp>
        <p:nvSpPr>
          <p:cNvPr name="TextBox 15" id="15"/>
          <p:cNvSpPr txBox="true"/>
          <p:nvPr/>
        </p:nvSpPr>
        <p:spPr>
          <a:xfrm rot="0">
            <a:off x="1121993" y="5223054"/>
            <a:ext cx="7937045" cy="1511428"/>
          </a:xfrm>
          <a:prstGeom prst="rect">
            <a:avLst/>
          </a:prstGeom>
        </p:spPr>
        <p:txBody>
          <a:bodyPr anchor="t" rtlCol="false" tIns="0" lIns="0" bIns="0" rIns="0">
            <a:spAutoFit/>
          </a:bodyPr>
          <a:lstStyle/>
          <a:p>
            <a:pPr algn="just" marL="518157" indent="-259078" lvl="1">
              <a:lnSpc>
                <a:spcPts val="4103"/>
              </a:lnSpc>
              <a:buFont typeface="Arial"/>
              <a:buChar char="•"/>
            </a:pPr>
            <a:r>
              <a:rPr lang="en-US" sz="2399">
                <a:solidFill>
                  <a:srgbClr val="000000"/>
                </a:solidFill>
                <a:latin typeface="Inter"/>
                <a:ea typeface="Inter"/>
                <a:cs typeface="Inter"/>
                <a:sym typeface="Inter"/>
              </a:rPr>
              <a:t>Giả lập chính sách tối ưu</a:t>
            </a:r>
          </a:p>
          <a:p>
            <a:pPr algn="just" marL="518157" indent="-259078" lvl="1">
              <a:lnSpc>
                <a:spcPts val="4103"/>
              </a:lnSpc>
              <a:buFont typeface="Arial"/>
              <a:buChar char="•"/>
            </a:pPr>
            <a:r>
              <a:rPr lang="en-US" sz="2399">
                <a:solidFill>
                  <a:srgbClr val="000000"/>
                </a:solidFill>
                <a:latin typeface="Inter"/>
                <a:ea typeface="Inter"/>
                <a:cs typeface="Inter"/>
                <a:sym typeface="Inter"/>
              </a:rPr>
              <a:t>Huấn luyện cây quyết định để bắt chước chính sách của agent</a:t>
            </a:r>
          </a:p>
        </p:txBody>
      </p:sp>
      <p:sp>
        <p:nvSpPr>
          <p:cNvPr name="TextBox 16" id="16"/>
          <p:cNvSpPr txBox="true"/>
          <p:nvPr/>
        </p:nvSpPr>
        <p:spPr>
          <a:xfrm rot="0">
            <a:off x="1121993" y="4736389"/>
            <a:ext cx="4430463" cy="291465"/>
          </a:xfrm>
          <a:prstGeom prst="rect">
            <a:avLst/>
          </a:prstGeom>
        </p:spPr>
        <p:txBody>
          <a:bodyPr anchor="t" rtlCol="false" tIns="0" lIns="0" bIns="0" rIns="0">
            <a:spAutoFit/>
          </a:bodyPr>
          <a:lstStyle/>
          <a:p>
            <a:pPr algn="l" marL="0" indent="0" lvl="0">
              <a:lnSpc>
                <a:spcPts val="2160"/>
              </a:lnSpc>
            </a:pPr>
            <a:r>
              <a:rPr lang="en-US" b="true" sz="2400">
                <a:solidFill>
                  <a:srgbClr val="000000"/>
                </a:solidFill>
                <a:latin typeface="Inter Bold"/>
                <a:ea typeface="Inter Bold"/>
                <a:cs typeface="Inter Bold"/>
                <a:sym typeface="Inter Bold"/>
              </a:rPr>
              <a:t>Nguyên lý hoạt động</a:t>
            </a:r>
          </a:p>
        </p:txBody>
      </p:sp>
      <p:sp>
        <p:nvSpPr>
          <p:cNvPr name="TextBox 17" id="17"/>
          <p:cNvSpPr txBox="true"/>
          <p:nvPr/>
        </p:nvSpPr>
        <p:spPr>
          <a:xfrm rot="0">
            <a:off x="8889540" y="6214237"/>
            <a:ext cx="268397" cy="676744"/>
          </a:xfrm>
          <a:prstGeom prst="rect">
            <a:avLst/>
          </a:prstGeom>
        </p:spPr>
        <p:txBody>
          <a:bodyPr anchor="t" rtlCol="false" tIns="0" lIns="0" bIns="0" rIns="0" wrap="none">
            <a:spAutoFit/>
          </a:bodyPr>
          <a:lstStyle/>
          <a:p>
            <a:pPr algn="ctr">
              <a:lnSpc>
                <a:spcPts val="5530"/>
              </a:lnSpc>
              <a:spcBef>
                <a:spcPct val="0"/>
              </a:spcBef>
            </a:pPr>
            <a:r>
              <a:rPr lang="en-US" sz="3950">
                <a:solidFill>
                  <a:srgbClr val="000000"/>
                </a:solidFill>
                <a:latin typeface="Paytone One"/>
                <a:ea typeface="Paytone One"/>
                <a:cs typeface="Paytone One"/>
                <a:sym typeface="Paytone One"/>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98730" y="4671689"/>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Freeform 3" id="3"/>
          <p:cNvSpPr/>
          <p:nvPr/>
        </p:nvSpPr>
        <p:spPr>
          <a:xfrm flipH="true" flipV="true" rot="5400000">
            <a:off x="7300925" y="660424"/>
            <a:ext cx="4303392" cy="861083"/>
          </a:xfrm>
          <a:custGeom>
            <a:avLst/>
            <a:gdLst/>
            <a:ahLst/>
            <a:cxnLst/>
            <a:rect r="r" b="b" t="t" l="l"/>
            <a:pathLst>
              <a:path h="861083" w="4303392">
                <a:moveTo>
                  <a:pt x="4303393" y="861083"/>
                </a:moveTo>
                <a:lnTo>
                  <a:pt x="0" y="861083"/>
                </a:lnTo>
                <a:lnTo>
                  <a:pt x="0" y="0"/>
                </a:lnTo>
                <a:lnTo>
                  <a:pt x="4303393" y="0"/>
                </a:lnTo>
                <a:lnTo>
                  <a:pt x="4303393" y="861083"/>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Freeform 4" id="4"/>
          <p:cNvSpPr/>
          <p:nvPr/>
        </p:nvSpPr>
        <p:spPr>
          <a:xfrm flipH="false" flipV="false" rot="0">
            <a:off x="-554441" y="731520"/>
            <a:ext cx="1108881" cy="1108881"/>
          </a:xfrm>
          <a:custGeom>
            <a:avLst/>
            <a:gdLst/>
            <a:ahLst/>
            <a:cxnLst/>
            <a:rect r="r" b="b" t="t" l="l"/>
            <a:pathLst>
              <a:path h="1108881" w="1108881">
                <a:moveTo>
                  <a:pt x="0" y="0"/>
                </a:moveTo>
                <a:lnTo>
                  <a:pt x="1108882" y="0"/>
                </a:lnTo>
                <a:lnTo>
                  <a:pt x="1108882" y="1108881"/>
                </a:lnTo>
                <a:lnTo>
                  <a:pt x="0" y="11088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54441" y="1238336"/>
            <a:ext cx="8670319" cy="2785340"/>
          </a:xfrm>
          <a:custGeom>
            <a:avLst/>
            <a:gdLst/>
            <a:ahLst/>
            <a:cxnLst/>
            <a:rect r="r" b="b" t="t" l="l"/>
            <a:pathLst>
              <a:path h="2785340" w="8670319">
                <a:moveTo>
                  <a:pt x="0" y="0"/>
                </a:moveTo>
                <a:lnTo>
                  <a:pt x="8670319" y="0"/>
                </a:lnTo>
                <a:lnTo>
                  <a:pt x="8670319" y="2785340"/>
                </a:lnTo>
                <a:lnTo>
                  <a:pt x="0" y="2785340"/>
                </a:lnTo>
                <a:lnTo>
                  <a:pt x="0" y="0"/>
                </a:lnTo>
                <a:close/>
              </a:path>
            </a:pathLst>
          </a:custGeom>
          <a:blipFill>
            <a:blip r:embed="rId6"/>
            <a:stretch>
              <a:fillRect l="0" t="0" r="0" b="0"/>
            </a:stretch>
          </a:blipFill>
        </p:spPr>
      </p:sp>
      <p:sp>
        <p:nvSpPr>
          <p:cNvPr name="TextBox 6" id="6"/>
          <p:cNvSpPr txBox="true"/>
          <p:nvPr/>
        </p:nvSpPr>
        <p:spPr>
          <a:xfrm rot="0">
            <a:off x="1037419" y="537226"/>
            <a:ext cx="7678763" cy="512414"/>
          </a:xfrm>
          <a:prstGeom prst="rect">
            <a:avLst/>
          </a:prstGeom>
        </p:spPr>
        <p:txBody>
          <a:bodyPr anchor="t" rtlCol="false" tIns="0" lIns="0" bIns="0" rIns="0">
            <a:spAutoFit/>
          </a:bodyPr>
          <a:lstStyle/>
          <a:p>
            <a:pPr algn="ctr" marL="0" indent="0" lvl="0">
              <a:lnSpc>
                <a:spcPts val="3780"/>
              </a:lnSpc>
            </a:pPr>
            <a:r>
              <a:rPr lang="en-US" b="true" sz="4200">
                <a:solidFill>
                  <a:srgbClr val="1F3685"/>
                </a:solidFill>
                <a:latin typeface="Faustina Bold"/>
                <a:ea typeface="Faustina Bold"/>
                <a:cs typeface="Faustina Bold"/>
                <a:sym typeface="Faustina Bold"/>
              </a:rPr>
              <a:t>DỮ LIỆU HUẤN LUYỆN</a:t>
            </a:r>
          </a:p>
        </p:txBody>
      </p:sp>
      <p:sp>
        <p:nvSpPr>
          <p:cNvPr name="TextBox 7" id="7"/>
          <p:cNvSpPr txBox="true"/>
          <p:nvPr/>
        </p:nvSpPr>
        <p:spPr>
          <a:xfrm rot="0">
            <a:off x="644133" y="4235122"/>
            <a:ext cx="8443000" cy="2711666"/>
          </a:xfrm>
          <a:prstGeom prst="rect">
            <a:avLst/>
          </a:prstGeom>
        </p:spPr>
        <p:txBody>
          <a:bodyPr anchor="t" rtlCol="false" tIns="0" lIns="0" bIns="0" rIns="0">
            <a:spAutoFit/>
          </a:bodyPr>
          <a:lstStyle/>
          <a:p>
            <a:pPr algn="just">
              <a:lnSpc>
                <a:spcPts val="3099"/>
              </a:lnSpc>
            </a:pPr>
            <a:r>
              <a:rPr lang="en-US" sz="1999">
                <a:solidFill>
                  <a:srgbClr val="000000"/>
                </a:solidFill>
                <a:latin typeface="Inter"/>
                <a:ea typeface="Inter"/>
                <a:cs typeface="Inter"/>
                <a:sym typeface="Inter"/>
              </a:rPr>
              <a:t>Tên đặc trưng:</a:t>
            </a:r>
          </a:p>
          <a:p>
            <a:pPr algn="just">
              <a:lnSpc>
                <a:spcPts val="3099"/>
              </a:lnSpc>
            </a:pPr>
            <a:r>
              <a:rPr lang="en-US" sz="1999">
                <a:solidFill>
                  <a:srgbClr val="000000"/>
                </a:solidFill>
                <a:latin typeface="Inter"/>
                <a:ea typeface="Inter"/>
                <a:cs typeface="Inter"/>
                <a:sym typeface="Inter"/>
              </a:rPr>
              <a:t>        wall_top, wall_bot, wall_left, wall_right</a:t>
            </a:r>
          </a:p>
          <a:p>
            <a:pPr algn="just">
              <a:lnSpc>
                <a:spcPts val="3099"/>
              </a:lnSpc>
            </a:pPr>
            <a:r>
              <a:rPr lang="en-US" sz="1999">
                <a:solidFill>
                  <a:srgbClr val="000000"/>
                </a:solidFill>
                <a:latin typeface="Inter"/>
                <a:ea typeface="Inter"/>
                <a:cs typeface="Inter"/>
                <a:sym typeface="Inter"/>
              </a:rPr>
              <a:t>        bomb_top, bomb_bot, bomb_left, bomb_right</a:t>
            </a:r>
          </a:p>
          <a:p>
            <a:pPr algn="just">
              <a:lnSpc>
                <a:spcPts val="3099"/>
              </a:lnSpc>
            </a:pPr>
            <a:r>
              <a:rPr lang="en-US" sz="1999">
                <a:solidFill>
                  <a:srgbClr val="000000"/>
                </a:solidFill>
                <a:latin typeface="Inter"/>
                <a:ea typeface="Inter"/>
                <a:cs typeface="Inter"/>
                <a:sym typeface="Inter"/>
              </a:rPr>
              <a:t>        near_top, near_bot, near_left, near_right</a:t>
            </a:r>
          </a:p>
          <a:p>
            <a:pPr algn="just">
              <a:lnSpc>
                <a:spcPts val="3099"/>
              </a:lnSpc>
            </a:pPr>
            <a:r>
              <a:rPr lang="en-US" sz="1999">
                <a:solidFill>
                  <a:srgbClr val="000000"/>
                </a:solidFill>
                <a:latin typeface="Inter"/>
                <a:ea typeface="Inter"/>
                <a:cs typeface="Inter"/>
                <a:sym typeface="Inter"/>
              </a:rPr>
              <a:t>Tập huấn luyện gồm 12 đặc trưng gồm 3 trạng thái có tường không, có bom không, có gần đích không x 4 hướng di chuyển trên dưới trái phải.</a:t>
            </a:r>
          </a:p>
        </p:txBody>
      </p:sp>
      <p:sp>
        <p:nvSpPr>
          <p:cNvPr name="TextBox 8" id="8"/>
          <p:cNvSpPr txBox="true"/>
          <p:nvPr/>
        </p:nvSpPr>
        <p:spPr>
          <a:xfrm rot="0">
            <a:off x="8905807" y="6296523"/>
            <a:ext cx="275328" cy="588762"/>
          </a:xfrm>
          <a:prstGeom prst="rect">
            <a:avLst/>
          </a:prstGeom>
        </p:spPr>
        <p:txBody>
          <a:bodyPr anchor="t" rtlCol="false" tIns="0" lIns="0" bIns="0" rIns="0" wrap="none">
            <a:spAutoFit/>
          </a:bodyPr>
          <a:lstStyle/>
          <a:p>
            <a:pPr algn="ctr">
              <a:lnSpc>
                <a:spcPts val="4846"/>
              </a:lnSpc>
              <a:spcBef>
                <a:spcPct val="0"/>
              </a:spcBef>
            </a:pPr>
            <a:r>
              <a:rPr lang="en-US" sz="3462">
                <a:solidFill>
                  <a:srgbClr val="000000"/>
                </a:solidFill>
                <a:latin typeface="Paytone One"/>
                <a:ea typeface="Paytone One"/>
                <a:cs typeface="Paytone One"/>
                <a:sym typeface="Paytone One"/>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6067138" y="3819849"/>
            <a:ext cx="7467828" cy="4941441"/>
          </a:xfrm>
          <a:custGeom>
            <a:avLst/>
            <a:gdLst/>
            <a:ahLst/>
            <a:cxnLst/>
            <a:rect r="r" b="b" t="t" l="l"/>
            <a:pathLst>
              <a:path h="4941441" w="7467828">
                <a:moveTo>
                  <a:pt x="7467828" y="0"/>
                </a:moveTo>
                <a:lnTo>
                  <a:pt x="0" y="0"/>
                </a:lnTo>
                <a:lnTo>
                  <a:pt x="0" y="4941441"/>
                </a:lnTo>
                <a:lnTo>
                  <a:pt x="7467828" y="4941441"/>
                </a:lnTo>
                <a:lnTo>
                  <a:pt x="74678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61492" y="587709"/>
            <a:ext cx="7830616" cy="392397"/>
          </a:xfrm>
          <a:prstGeom prst="rect">
            <a:avLst/>
          </a:prstGeom>
        </p:spPr>
        <p:txBody>
          <a:bodyPr anchor="t" rtlCol="false" tIns="0" lIns="0" bIns="0" rIns="0">
            <a:spAutoFit/>
          </a:bodyPr>
          <a:lstStyle/>
          <a:p>
            <a:pPr algn="ctr" marL="0" indent="0" lvl="0">
              <a:lnSpc>
                <a:spcPts val="2970"/>
              </a:lnSpc>
            </a:pPr>
            <a:r>
              <a:rPr lang="en-US" b="true" sz="3300">
                <a:solidFill>
                  <a:srgbClr val="1F3685"/>
                </a:solidFill>
                <a:latin typeface="Faustina Bold"/>
                <a:ea typeface="Faustina Bold"/>
                <a:cs typeface="Faustina Bold"/>
                <a:sym typeface="Faustina Bold"/>
              </a:rPr>
              <a:t>MÔ HÌNH CÂY QUYẾT ĐỊNH</a:t>
            </a:r>
          </a:p>
        </p:txBody>
      </p:sp>
      <p:sp>
        <p:nvSpPr>
          <p:cNvPr name="TextBox 4" id="4"/>
          <p:cNvSpPr txBox="true"/>
          <p:nvPr/>
        </p:nvSpPr>
        <p:spPr>
          <a:xfrm rot="0">
            <a:off x="191618" y="1566424"/>
            <a:ext cx="2460320" cy="4388590"/>
          </a:xfrm>
          <a:prstGeom prst="rect">
            <a:avLst/>
          </a:prstGeom>
        </p:spPr>
        <p:txBody>
          <a:bodyPr anchor="t" rtlCol="false" tIns="0" lIns="0" bIns="0" rIns="0">
            <a:spAutoFit/>
          </a:bodyPr>
          <a:lstStyle/>
          <a:p>
            <a:pPr algn="just" marL="215901" indent="-107951" lvl="1">
              <a:lnSpc>
                <a:spcPts val="1670"/>
              </a:lnSpc>
              <a:buAutoNum type="arabicPeriod" startAt="1"/>
            </a:pPr>
            <a:r>
              <a:rPr lang="en-US" sz="1000">
                <a:solidFill>
                  <a:srgbClr val="000000"/>
                </a:solidFill>
                <a:latin typeface="Inter"/>
                <a:ea typeface="Inter"/>
                <a:cs typeface="Inter"/>
                <a:sym typeface="Inter"/>
              </a:rPr>
              <a:t>|--- near_right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a:t>
            </a:r>
            <a:r>
              <a:rPr lang="en-US" sz="1000">
                <a:solidFill>
                  <a:srgbClr val="000000"/>
                </a:solidFill>
                <a:latin typeface="Inter"/>
                <a:ea typeface="Inter"/>
                <a:cs typeface="Inter"/>
                <a:sym typeface="Inter"/>
              </a:rPr>
              <a:t>   |--- near_top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wall_left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near_left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down</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right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near_left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near_bot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near_bot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wall_left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down</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down</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a:t>
            </a:r>
            <a:r>
              <a:rPr lang="en-US" b="true" sz="1000">
                <a:solidFill>
                  <a:srgbClr val="1F3685"/>
                </a:solidFill>
                <a:latin typeface="Inter Bold"/>
                <a:ea typeface="Inter Bold"/>
                <a:cs typeface="Inter Bold"/>
                <a:sym typeface="Inter Bold"/>
              </a:rPr>
              <a:t>class: up</a:t>
            </a:r>
          </a:p>
        </p:txBody>
      </p:sp>
      <p:sp>
        <p:nvSpPr>
          <p:cNvPr name="TextBox 5" id="5"/>
          <p:cNvSpPr txBox="true"/>
          <p:nvPr/>
        </p:nvSpPr>
        <p:spPr>
          <a:xfrm rot="0">
            <a:off x="2498299" y="1566424"/>
            <a:ext cx="2302301" cy="4388590"/>
          </a:xfrm>
          <a:prstGeom prst="rect">
            <a:avLst/>
          </a:prstGeom>
        </p:spPr>
        <p:txBody>
          <a:bodyPr anchor="t" rtlCol="false" tIns="0" lIns="0" bIns="0" rIns="0">
            <a:spAutoFit/>
          </a:bodyPr>
          <a:lstStyle/>
          <a:p>
            <a:pPr algn="just" marL="215901" indent="-107951" lvl="1">
              <a:lnSpc>
                <a:spcPts val="1670"/>
              </a:lnSpc>
              <a:buAutoNum type="arabicPeriod" startAt="1"/>
            </a:pPr>
            <a:r>
              <a:rPr lang="en-US" sz="1000">
                <a:solidFill>
                  <a:srgbClr val="000000"/>
                </a:solidFill>
                <a:latin typeface="Inter"/>
                <a:ea typeface="Inter"/>
                <a:cs typeface="Inter"/>
                <a:sym typeface="Inter"/>
              </a:rPr>
              <a:t>|--- near_right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a:t>
            </a:r>
            <a:r>
              <a:rPr lang="en-US" sz="1000">
                <a:solidFill>
                  <a:srgbClr val="000000"/>
                </a:solidFill>
                <a:latin typeface="Inter"/>
                <a:ea typeface="Inter"/>
                <a:cs typeface="Inter"/>
                <a:sym typeface="Inter"/>
              </a:rPr>
              <a:t>   |--- near_top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wall_top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wall_top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near_left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near_left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a:t>
            </a:r>
            <a:r>
              <a:rPr lang="en-US" b="true" sz="1000">
                <a:solidFill>
                  <a:srgbClr val="1F3685"/>
                </a:solidFill>
                <a:latin typeface="Inter Bold"/>
                <a:ea typeface="Inter Bold"/>
                <a:cs typeface="Inter Bold"/>
                <a:sym typeface="Inter Bold"/>
              </a:rPr>
              <a:t>class: left</a:t>
            </a:r>
          </a:p>
        </p:txBody>
      </p:sp>
      <p:sp>
        <p:nvSpPr>
          <p:cNvPr name="TextBox 6" id="6"/>
          <p:cNvSpPr txBox="true"/>
          <p:nvPr/>
        </p:nvSpPr>
        <p:spPr>
          <a:xfrm rot="0">
            <a:off x="4869477" y="1566424"/>
            <a:ext cx="2430304" cy="5017256"/>
          </a:xfrm>
          <a:prstGeom prst="rect">
            <a:avLst/>
          </a:prstGeom>
        </p:spPr>
        <p:txBody>
          <a:bodyPr anchor="t" rtlCol="false" tIns="0" lIns="0" bIns="0" rIns="0">
            <a:spAutoFit/>
          </a:bodyPr>
          <a:lstStyle/>
          <a:p>
            <a:pPr algn="just" marL="215901" indent="-107951" lvl="1">
              <a:lnSpc>
                <a:spcPts val="1670"/>
              </a:lnSpc>
              <a:buAutoNum type="arabicPeriod" startAt="1"/>
            </a:pPr>
            <a:r>
              <a:rPr lang="en-US" sz="1000">
                <a:solidFill>
                  <a:srgbClr val="000000"/>
                </a:solidFill>
                <a:latin typeface="Inter"/>
                <a:ea typeface="Inter"/>
                <a:cs typeface="Inter"/>
                <a:sym typeface="Inter"/>
              </a:rPr>
              <a:t>|--- near_right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a:t>
            </a:r>
            <a:r>
              <a:rPr lang="en-US" sz="1000">
                <a:solidFill>
                  <a:srgbClr val="000000"/>
                </a:solidFill>
                <a:latin typeface="Inter"/>
                <a:ea typeface="Inter"/>
                <a:cs typeface="Inter"/>
                <a:sym typeface="Inter"/>
              </a:rPr>
              <a:t>   |--- near_bot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bomb_top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bomb_right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right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 bomb_right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a:t>
            </a:r>
            <a:r>
              <a:rPr lang="en-US" b="true" sz="1000">
                <a:solidFill>
                  <a:srgbClr val="000000"/>
                </a:solidFill>
                <a:latin typeface="Inter Bold"/>
                <a:ea typeface="Inter Bold"/>
                <a:cs typeface="Inter Bold"/>
                <a:sym typeface="Inter Bold"/>
              </a:rPr>
              <a:t> </a:t>
            </a:r>
            <a:r>
              <a:rPr lang="en-US" b="true" sz="1000">
                <a:solidFill>
                  <a:srgbClr val="1F3685"/>
                </a:solidFill>
                <a:latin typeface="Inter Bold"/>
                <a:ea typeface="Inter Bold"/>
                <a:cs typeface="Inter Bold"/>
                <a:sym typeface="Inter Bold"/>
              </a:rPr>
              <a:t>class: down</a:t>
            </a:r>
          </a:p>
          <a:p>
            <a:pPr algn="just" marL="215901" indent="-107951" lvl="1">
              <a:lnSpc>
                <a:spcPts val="1670"/>
              </a:lnSpc>
              <a:buAutoNum type="arabicPeriod" startAt="1"/>
            </a:pPr>
            <a:r>
              <a:rPr lang="en-US" sz="1000">
                <a:solidFill>
                  <a:srgbClr val="000000"/>
                </a:solidFill>
                <a:latin typeface="Inter"/>
                <a:ea typeface="Inter"/>
                <a:cs typeface="Inter"/>
                <a:sym typeface="Inter"/>
              </a:rPr>
              <a:t>|   |   |--- bomb_top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bomb_right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right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right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bomb_right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near_top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near_top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down</a:t>
            </a:r>
          </a:p>
        </p:txBody>
      </p:sp>
      <p:sp>
        <p:nvSpPr>
          <p:cNvPr name="TextBox 7" id="7"/>
          <p:cNvSpPr txBox="true"/>
          <p:nvPr/>
        </p:nvSpPr>
        <p:spPr>
          <a:xfrm rot="0">
            <a:off x="7299782" y="1566424"/>
            <a:ext cx="2339345" cy="5017256"/>
          </a:xfrm>
          <a:prstGeom prst="rect">
            <a:avLst/>
          </a:prstGeom>
        </p:spPr>
        <p:txBody>
          <a:bodyPr anchor="t" rtlCol="false" tIns="0" lIns="0" bIns="0" rIns="0">
            <a:spAutoFit/>
          </a:bodyPr>
          <a:lstStyle/>
          <a:p>
            <a:pPr algn="just" marL="215901" indent="-107951" lvl="1">
              <a:lnSpc>
                <a:spcPts val="1670"/>
              </a:lnSpc>
              <a:buAutoNum type="arabicPeriod" startAt="1"/>
            </a:pPr>
            <a:r>
              <a:rPr lang="en-US" sz="1000">
                <a:solidFill>
                  <a:srgbClr val="000000"/>
                </a:solidFill>
                <a:latin typeface="Inter"/>
                <a:ea typeface="Inter"/>
                <a:cs typeface="Inter"/>
                <a:sym typeface="Inter"/>
              </a:rPr>
              <a:t>|--- near_right &gt;</a:t>
            </a:r>
            <a:r>
              <a:rPr lang="en-US" sz="1000">
                <a:solidFill>
                  <a:srgbClr val="000000"/>
                </a:solidFill>
                <a:latin typeface="Inter"/>
                <a:ea typeface="Inter"/>
                <a:cs typeface="Inter"/>
                <a:sym typeface="Inter"/>
              </a:rPr>
              <a: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a:t>
            </a:r>
            <a:r>
              <a:rPr lang="en-US" sz="1000">
                <a:solidFill>
                  <a:srgbClr val="000000"/>
                </a:solidFill>
                <a:latin typeface="Inter"/>
                <a:ea typeface="Inter"/>
                <a:cs typeface="Inter"/>
                <a:sym typeface="Inter"/>
              </a:rPr>
              <a:t>   |--- near_bot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bomb_bot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wall_bot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down</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down</a:t>
            </a:r>
          </a:p>
          <a:p>
            <a:pPr algn="just" marL="215901" indent="-107951" lvl="1">
              <a:lnSpc>
                <a:spcPts val="1670"/>
              </a:lnSpc>
              <a:buAutoNum type="arabicPeriod" startAt="1"/>
            </a:pPr>
            <a:r>
              <a:rPr lang="en-US" sz="1000">
                <a:solidFill>
                  <a:srgbClr val="000000"/>
                </a:solidFill>
                <a:latin typeface="Inter"/>
                <a:ea typeface="Inter"/>
                <a:cs typeface="Inter"/>
                <a:sym typeface="Inter"/>
              </a:rPr>
              <a:t>|   |   |   |--- wall_bot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right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a:p>
            <a:pPr algn="just" marL="215901" indent="-107951" lvl="1">
              <a:lnSpc>
                <a:spcPts val="1670"/>
              </a:lnSpc>
              <a:buAutoNum type="arabicPeriod" startAt="1"/>
            </a:pPr>
            <a:r>
              <a:rPr lang="en-US" sz="1000">
                <a:solidFill>
                  <a:srgbClr val="000000"/>
                </a:solidFill>
                <a:latin typeface="Inter"/>
                <a:ea typeface="Inter"/>
                <a:cs typeface="Inter"/>
                <a:sym typeface="Inter"/>
              </a:rPr>
              <a:t>|   |   |--- bomb_bot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bomb_right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wall_right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right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wall_right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bomb_right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bomb_left &lt;=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left</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bomb_left &gt;  0.50</a:t>
            </a:r>
          </a:p>
          <a:p>
            <a:pPr algn="just" marL="215901" indent="-107951" lvl="1">
              <a:lnSpc>
                <a:spcPts val="1670"/>
              </a:lnSpc>
              <a:buAutoNum type="arabicPeriod" startAt="1"/>
            </a:pPr>
            <a:r>
              <a:rPr lang="en-US" sz="1000">
                <a:solidFill>
                  <a:srgbClr val="000000"/>
                </a:solidFill>
                <a:latin typeface="Inter"/>
                <a:ea typeface="Inter"/>
                <a:cs typeface="Inter"/>
                <a:sym typeface="Inter"/>
              </a:rPr>
              <a:t>|   |   |   |   |   |--- </a:t>
            </a:r>
            <a:r>
              <a:rPr lang="en-US" b="true" sz="1000">
                <a:solidFill>
                  <a:srgbClr val="1F3685"/>
                </a:solidFill>
                <a:latin typeface="Inter Bold"/>
                <a:ea typeface="Inter Bold"/>
                <a:cs typeface="Inter Bold"/>
                <a:sym typeface="Inter Bold"/>
              </a:rPr>
              <a:t>class: up</a:t>
            </a:r>
          </a:p>
        </p:txBody>
      </p:sp>
      <p:sp>
        <p:nvSpPr>
          <p:cNvPr name="TextBox 8" id="8"/>
          <p:cNvSpPr txBox="true"/>
          <p:nvPr/>
        </p:nvSpPr>
        <p:spPr>
          <a:xfrm rot="0">
            <a:off x="579687" y="6328670"/>
            <a:ext cx="4430463" cy="291428"/>
          </a:xfrm>
          <a:prstGeom prst="rect">
            <a:avLst/>
          </a:prstGeom>
        </p:spPr>
        <p:txBody>
          <a:bodyPr anchor="t" rtlCol="false" tIns="0" lIns="0" bIns="0" rIns="0">
            <a:spAutoFit/>
          </a:bodyPr>
          <a:lstStyle/>
          <a:p>
            <a:pPr algn="l" marL="0" indent="0" lvl="0">
              <a:lnSpc>
                <a:spcPts val="2160"/>
              </a:lnSpc>
            </a:pPr>
            <a:r>
              <a:rPr lang="en-US" sz="2400">
                <a:solidFill>
                  <a:srgbClr val="000000"/>
                </a:solidFill>
                <a:latin typeface="Inter"/>
                <a:ea typeface="Inter"/>
                <a:cs typeface="Inter"/>
                <a:sym typeface="Inter"/>
              </a:rPr>
              <a:t>Gồm 30 luật khác nhau</a:t>
            </a:r>
          </a:p>
        </p:txBody>
      </p:sp>
      <p:sp>
        <p:nvSpPr>
          <p:cNvPr name="TextBox 9" id="9"/>
          <p:cNvSpPr txBox="true"/>
          <p:nvPr/>
        </p:nvSpPr>
        <p:spPr>
          <a:xfrm rot="0">
            <a:off x="9255925" y="6204845"/>
            <a:ext cx="245267" cy="709169"/>
          </a:xfrm>
          <a:prstGeom prst="rect">
            <a:avLst/>
          </a:prstGeom>
        </p:spPr>
        <p:txBody>
          <a:bodyPr anchor="t" rtlCol="false" tIns="0" lIns="0" bIns="0" rIns="0" wrap="none">
            <a:spAutoFit/>
          </a:bodyPr>
          <a:lstStyle/>
          <a:p>
            <a:pPr algn="ctr">
              <a:lnSpc>
                <a:spcPts val="5802"/>
              </a:lnSpc>
              <a:spcBef>
                <a:spcPct val="0"/>
              </a:spcBef>
            </a:pPr>
            <a:r>
              <a:rPr lang="en-US" sz="4144">
                <a:solidFill>
                  <a:srgbClr val="000000"/>
                </a:solidFill>
                <a:latin typeface="Paytone One"/>
                <a:ea typeface="Paytone One"/>
                <a:cs typeface="Paytone One"/>
                <a:sym typeface="Paytone One"/>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5344173" y="3479423"/>
            <a:ext cx="7467828" cy="4941441"/>
          </a:xfrm>
          <a:custGeom>
            <a:avLst/>
            <a:gdLst/>
            <a:ahLst/>
            <a:cxnLst/>
            <a:rect r="r" b="b" t="t" l="l"/>
            <a:pathLst>
              <a:path h="4941441" w="7467828">
                <a:moveTo>
                  <a:pt x="7467828" y="0"/>
                </a:moveTo>
                <a:lnTo>
                  <a:pt x="0" y="0"/>
                </a:lnTo>
                <a:lnTo>
                  <a:pt x="0" y="4941441"/>
                </a:lnTo>
                <a:lnTo>
                  <a:pt x="7467828" y="4941441"/>
                </a:lnTo>
                <a:lnTo>
                  <a:pt x="74678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912307" y="4110296"/>
            <a:ext cx="876822" cy="87682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grpSp>
        <p:nvGrpSpPr>
          <p:cNvPr name="Group 6" id="6"/>
          <p:cNvGrpSpPr/>
          <p:nvPr/>
        </p:nvGrpSpPr>
        <p:grpSpPr>
          <a:xfrm rot="0">
            <a:off x="4912307" y="3151607"/>
            <a:ext cx="876822" cy="87682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9" id="9"/>
          <p:cNvSpPr/>
          <p:nvPr/>
        </p:nvSpPr>
        <p:spPr>
          <a:xfrm flipH="false" flipV="false" rot="0">
            <a:off x="-512907" y="1487343"/>
            <a:ext cx="1025814" cy="1025814"/>
          </a:xfrm>
          <a:custGeom>
            <a:avLst/>
            <a:gdLst/>
            <a:ahLst/>
            <a:cxnLst/>
            <a:rect r="r" b="b" t="t" l="l"/>
            <a:pathLst>
              <a:path h="1025814" w="1025814">
                <a:moveTo>
                  <a:pt x="0" y="0"/>
                </a:moveTo>
                <a:lnTo>
                  <a:pt x="1025814" y="0"/>
                </a:lnTo>
                <a:lnTo>
                  <a:pt x="1025814" y="1025814"/>
                </a:lnTo>
                <a:lnTo>
                  <a:pt x="0" y="1025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852376" y="5747660"/>
            <a:ext cx="1085820" cy="108582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2" id="12"/>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13" id="13"/>
          <p:cNvSpPr/>
          <p:nvPr/>
        </p:nvSpPr>
        <p:spPr>
          <a:xfrm flipH="false" flipV="false" rot="0">
            <a:off x="961492" y="2142540"/>
            <a:ext cx="7830616" cy="4003402"/>
          </a:xfrm>
          <a:custGeom>
            <a:avLst/>
            <a:gdLst/>
            <a:ahLst/>
            <a:cxnLst/>
            <a:rect r="r" b="b" t="t" l="l"/>
            <a:pathLst>
              <a:path h="4003402" w="7830616">
                <a:moveTo>
                  <a:pt x="0" y="0"/>
                </a:moveTo>
                <a:lnTo>
                  <a:pt x="7830616" y="0"/>
                </a:lnTo>
                <a:lnTo>
                  <a:pt x="7830616" y="4003402"/>
                </a:lnTo>
                <a:lnTo>
                  <a:pt x="0" y="4003402"/>
                </a:lnTo>
                <a:lnTo>
                  <a:pt x="0" y="0"/>
                </a:lnTo>
                <a:close/>
              </a:path>
            </a:pathLst>
          </a:custGeom>
          <a:blipFill>
            <a:blip r:embed="rId6"/>
            <a:stretch>
              <a:fillRect l="0" t="0" r="0" b="0"/>
            </a:stretch>
          </a:blipFill>
        </p:spPr>
      </p:sp>
      <p:sp>
        <p:nvSpPr>
          <p:cNvPr name="TextBox 14" id="14"/>
          <p:cNvSpPr txBox="true"/>
          <p:nvPr/>
        </p:nvSpPr>
        <p:spPr>
          <a:xfrm rot="0">
            <a:off x="961492" y="587709"/>
            <a:ext cx="7830616" cy="392397"/>
          </a:xfrm>
          <a:prstGeom prst="rect">
            <a:avLst/>
          </a:prstGeom>
        </p:spPr>
        <p:txBody>
          <a:bodyPr anchor="t" rtlCol="false" tIns="0" lIns="0" bIns="0" rIns="0">
            <a:spAutoFit/>
          </a:bodyPr>
          <a:lstStyle/>
          <a:p>
            <a:pPr algn="ctr" marL="0" indent="0" lvl="0">
              <a:lnSpc>
                <a:spcPts val="2970"/>
              </a:lnSpc>
            </a:pPr>
            <a:r>
              <a:rPr lang="en-US" b="true" sz="3300">
                <a:solidFill>
                  <a:srgbClr val="1F3685"/>
                </a:solidFill>
                <a:latin typeface="Faustina Bold"/>
                <a:ea typeface="Faustina Bold"/>
                <a:cs typeface="Faustina Bold"/>
                <a:sym typeface="Faustina Bold"/>
              </a:rPr>
              <a:t>MÔ HÌNH CÂY QUYẾT ĐỊNH</a:t>
            </a:r>
          </a:p>
        </p:txBody>
      </p:sp>
      <p:sp>
        <p:nvSpPr>
          <p:cNvPr name="TextBox 15" id="15"/>
          <p:cNvSpPr txBox="true"/>
          <p:nvPr/>
        </p:nvSpPr>
        <p:spPr>
          <a:xfrm rot="0">
            <a:off x="961492" y="1529770"/>
            <a:ext cx="4430463" cy="291428"/>
          </a:xfrm>
          <a:prstGeom prst="rect">
            <a:avLst/>
          </a:prstGeom>
        </p:spPr>
        <p:txBody>
          <a:bodyPr anchor="t" rtlCol="false" tIns="0" lIns="0" bIns="0" rIns="0">
            <a:spAutoFit/>
          </a:bodyPr>
          <a:lstStyle/>
          <a:p>
            <a:pPr algn="l" marL="0" indent="0" lvl="0">
              <a:lnSpc>
                <a:spcPts val="2160"/>
              </a:lnSpc>
            </a:pPr>
            <a:r>
              <a:rPr lang="en-US" b="true" sz="2400">
                <a:solidFill>
                  <a:srgbClr val="000000"/>
                </a:solidFill>
                <a:latin typeface="Inter Bold"/>
                <a:ea typeface="Inter Bold"/>
                <a:cs typeface="Inter Bold"/>
                <a:sym typeface="Inter Bold"/>
              </a:rPr>
              <a:t>Quy tắc của cây quyết định </a:t>
            </a:r>
          </a:p>
        </p:txBody>
      </p:sp>
      <p:sp>
        <p:nvSpPr>
          <p:cNvPr name="TextBox 16" id="16"/>
          <p:cNvSpPr txBox="true"/>
          <p:nvPr/>
        </p:nvSpPr>
        <p:spPr>
          <a:xfrm rot="0">
            <a:off x="9243720" y="6214370"/>
            <a:ext cx="314114" cy="670952"/>
          </a:xfrm>
          <a:prstGeom prst="rect">
            <a:avLst/>
          </a:prstGeom>
        </p:spPr>
        <p:txBody>
          <a:bodyPr anchor="t" rtlCol="false" tIns="0" lIns="0" bIns="0" rIns="0" wrap="none">
            <a:spAutoFit/>
          </a:bodyPr>
          <a:lstStyle/>
          <a:p>
            <a:pPr algn="ctr">
              <a:lnSpc>
                <a:spcPts val="5521"/>
              </a:lnSpc>
              <a:spcBef>
                <a:spcPct val="0"/>
              </a:spcBef>
            </a:pPr>
            <a:r>
              <a:rPr lang="en-US" sz="3943">
                <a:solidFill>
                  <a:srgbClr val="000000"/>
                </a:solidFill>
                <a:latin typeface="Paytone One"/>
                <a:ea typeface="Paytone One"/>
                <a:cs typeface="Paytone One"/>
                <a:sym typeface="Paytone One"/>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5344173" y="3479423"/>
            <a:ext cx="7467828" cy="4941441"/>
          </a:xfrm>
          <a:custGeom>
            <a:avLst/>
            <a:gdLst/>
            <a:ahLst/>
            <a:cxnLst/>
            <a:rect r="r" b="b" t="t" l="l"/>
            <a:pathLst>
              <a:path h="4941441" w="7467828">
                <a:moveTo>
                  <a:pt x="7467828" y="0"/>
                </a:moveTo>
                <a:lnTo>
                  <a:pt x="0" y="0"/>
                </a:lnTo>
                <a:lnTo>
                  <a:pt x="0" y="4941441"/>
                </a:lnTo>
                <a:lnTo>
                  <a:pt x="7467828" y="4941441"/>
                </a:lnTo>
                <a:lnTo>
                  <a:pt x="74678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912307" y="4110296"/>
            <a:ext cx="876822" cy="87682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grpSp>
        <p:nvGrpSpPr>
          <p:cNvPr name="Group 6" id="6"/>
          <p:cNvGrpSpPr/>
          <p:nvPr/>
        </p:nvGrpSpPr>
        <p:grpSpPr>
          <a:xfrm rot="0">
            <a:off x="4912307" y="3151607"/>
            <a:ext cx="876822" cy="87682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9" id="9"/>
          <p:cNvSpPr/>
          <p:nvPr/>
        </p:nvSpPr>
        <p:spPr>
          <a:xfrm flipH="false" flipV="false" rot="0">
            <a:off x="-512907" y="1487343"/>
            <a:ext cx="1025814" cy="1025814"/>
          </a:xfrm>
          <a:custGeom>
            <a:avLst/>
            <a:gdLst/>
            <a:ahLst/>
            <a:cxnLst/>
            <a:rect r="r" b="b" t="t" l="l"/>
            <a:pathLst>
              <a:path h="1025814" w="1025814">
                <a:moveTo>
                  <a:pt x="0" y="0"/>
                </a:moveTo>
                <a:lnTo>
                  <a:pt x="1025814" y="0"/>
                </a:lnTo>
                <a:lnTo>
                  <a:pt x="1025814" y="1025814"/>
                </a:lnTo>
                <a:lnTo>
                  <a:pt x="0" y="1025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852376" y="5747660"/>
            <a:ext cx="1085820" cy="108582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2" id="12"/>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Freeform 13" id="13"/>
          <p:cNvSpPr/>
          <p:nvPr/>
        </p:nvSpPr>
        <p:spPr>
          <a:xfrm flipH="false" flipV="false" rot="0">
            <a:off x="5338476" y="1613221"/>
            <a:ext cx="4113620" cy="3953593"/>
          </a:xfrm>
          <a:custGeom>
            <a:avLst/>
            <a:gdLst/>
            <a:ahLst/>
            <a:cxnLst/>
            <a:rect r="r" b="b" t="t" l="l"/>
            <a:pathLst>
              <a:path h="3953593" w="4113620">
                <a:moveTo>
                  <a:pt x="0" y="0"/>
                </a:moveTo>
                <a:lnTo>
                  <a:pt x="4113620" y="0"/>
                </a:lnTo>
                <a:lnTo>
                  <a:pt x="4113620" y="3953594"/>
                </a:lnTo>
                <a:lnTo>
                  <a:pt x="0" y="3953594"/>
                </a:lnTo>
                <a:lnTo>
                  <a:pt x="0" y="0"/>
                </a:lnTo>
                <a:close/>
              </a:path>
            </a:pathLst>
          </a:custGeom>
          <a:blipFill>
            <a:blip r:embed="rId6"/>
            <a:stretch>
              <a:fillRect l="0" t="0" r="0" b="0"/>
            </a:stretch>
          </a:blipFill>
        </p:spPr>
      </p:sp>
      <p:pic>
        <p:nvPicPr>
          <p:cNvPr name="Picture 14" id="14"/>
          <p:cNvPicPr>
            <a:picLocks noChangeAspect="true"/>
          </p:cNvPicPr>
          <p:nvPr/>
        </p:nvPicPr>
        <p:blipFill>
          <a:blip r:embed="rId7"/>
          <a:srcRect l="0" t="0" r="0" b="0"/>
          <a:stretch>
            <a:fillRect/>
          </a:stretch>
        </p:blipFill>
        <p:spPr>
          <a:xfrm flipH="false" flipV="false" rot="0">
            <a:off x="6960449" y="3486249"/>
            <a:ext cx="206500" cy="207538"/>
          </a:xfrm>
          <a:prstGeom prst="rect">
            <a:avLst/>
          </a:prstGeom>
        </p:spPr>
      </p:pic>
      <p:sp>
        <p:nvSpPr>
          <p:cNvPr name="TextBox 15" id="15"/>
          <p:cNvSpPr txBox="true"/>
          <p:nvPr/>
        </p:nvSpPr>
        <p:spPr>
          <a:xfrm rot="0">
            <a:off x="961492" y="587709"/>
            <a:ext cx="7830616" cy="392397"/>
          </a:xfrm>
          <a:prstGeom prst="rect">
            <a:avLst/>
          </a:prstGeom>
        </p:spPr>
        <p:txBody>
          <a:bodyPr anchor="t" rtlCol="false" tIns="0" lIns="0" bIns="0" rIns="0">
            <a:spAutoFit/>
          </a:bodyPr>
          <a:lstStyle/>
          <a:p>
            <a:pPr algn="ctr" marL="0" indent="0" lvl="0">
              <a:lnSpc>
                <a:spcPts val="2970"/>
              </a:lnSpc>
            </a:pPr>
            <a:r>
              <a:rPr lang="en-US" b="true" sz="3300">
                <a:solidFill>
                  <a:srgbClr val="1F3685"/>
                </a:solidFill>
                <a:latin typeface="Faustina Bold"/>
                <a:ea typeface="Faustina Bold"/>
                <a:cs typeface="Faustina Bold"/>
                <a:sym typeface="Faustina Bold"/>
              </a:rPr>
              <a:t>MÔ HÌNH CÂY QUYẾT ĐỊNH</a:t>
            </a:r>
          </a:p>
        </p:txBody>
      </p:sp>
      <p:sp>
        <p:nvSpPr>
          <p:cNvPr name="TextBox 16" id="16"/>
          <p:cNvSpPr txBox="true"/>
          <p:nvPr/>
        </p:nvSpPr>
        <p:spPr>
          <a:xfrm rot="0">
            <a:off x="512907" y="1589800"/>
            <a:ext cx="4363893" cy="4059399"/>
          </a:xfrm>
          <a:prstGeom prst="rect">
            <a:avLst/>
          </a:prstGeom>
        </p:spPr>
        <p:txBody>
          <a:bodyPr anchor="t" rtlCol="false" tIns="0" lIns="0" bIns="0" rIns="0">
            <a:spAutoFit/>
          </a:bodyPr>
          <a:lstStyle/>
          <a:p>
            <a:pPr algn="just">
              <a:lnSpc>
                <a:spcPts val="2491"/>
              </a:lnSpc>
            </a:pPr>
            <a:r>
              <a:rPr lang="en-US" sz="1399">
                <a:solidFill>
                  <a:srgbClr val="000000"/>
                </a:solidFill>
                <a:latin typeface="Inter"/>
                <a:ea typeface="Inter"/>
                <a:cs typeface="Inter"/>
                <a:sym typeface="Inter"/>
              </a:rPr>
              <a:t>========= Trường hợp [10, 7] =========</a:t>
            </a:r>
          </a:p>
          <a:p>
            <a:pPr algn="just">
              <a:lnSpc>
                <a:spcPts val="2491"/>
              </a:lnSpc>
            </a:pPr>
            <a:r>
              <a:rPr lang="en-US" sz="1399">
                <a:solidFill>
                  <a:srgbClr val="000000"/>
                </a:solidFill>
                <a:latin typeface="Inter"/>
                <a:ea typeface="Inter"/>
                <a:cs typeface="Inter"/>
                <a:sym typeface="Inter"/>
              </a:rPr>
              <a:t>Thực tế </a:t>
            </a:r>
            <a:r>
              <a:rPr lang="en-US" sz="1399">
                <a:solidFill>
                  <a:srgbClr val="000000"/>
                </a:solidFill>
                <a:latin typeface="Inter"/>
                <a:ea typeface="Inter"/>
                <a:cs typeface="Inter"/>
                <a:sym typeface="Inter"/>
              </a:rPr>
              <a:t>Agent 'left'</a:t>
            </a:r>
          </a:p>
          <a:p>
            <a:pPr algn="just">
              <a:lnSpc>
                <a:spcPts val="2491"/>
              </a:lnSpc>
            </a:pPr>
            <a:r>
              <a:rPr lang="en-US" sz="1399">
                <a:solidFill>
                  <a:srgbClr val="000000"/>
                </a:solidFill>
                <a:latin typeface="Inter"/>
                <a:ea typeface="Inter"/>
                <a:cs typeface="Inter"/>
                <a:sym typeface="Inter"/>
              </a:rPr>
              <a:t>🌳(Luật đầy đủ)Agent chọn left vì:  agent xuống dưới gần đích hơn, phía dưới không có tường, phía dưới có bomb, agent qua trái gần đích hơn, bên trái không có tường,</a:t>
            </a:r>
          </a:p>
          <a:p>
            <a:pPr algn="just">
              <a:lnSpc>
                <a:spcPts val="2491"/>
              </a:lnSpc>
            </a:pPr>
            <a:r>
              <a:rPr lang="en-US" sz="1399">
                <a:solidFill>
                  <a:srgbClr val="000000"/>
                </a:solidFill>
                <a:latin typeface="Inter"/>
                <a:ea typeface="Inter"/>
                <a:cs typeface="Inter"/>
                <a:sym typeface="Inter"/>
              </a:rPr>
              <a:t>🌳Agent</a:t>
            </a:r>
            <a:r>
              <a:rPr lang="en-US" sz="1399">
                <a:solidFill>
                  <a:srgbClr val="000000"/>
                </a:solidFill>
                <a:latin typeface="Inter"/>
                <a:ea typeface="Inter"/>
                <a:cs typeface="Inter"/>
                <a:sym typeface="Inter"/>
              </a:rPr>
              <a:t> chọn 'left' vì: agent qua trái gần đích hơn, bên trái không có tường,</a:t>
            </a:r>
          </a:p>
          <a:p>
            <a:pPr algn="just">
              <a:lnSpc>
                <a:spcPts val="2491"/>
              </a:lnSpc>
            </a:pPr>
            <a:r>
              <a:rPr lang="en-US" sz="1399">
                <a:solidFill>
                  <a:srgbClr val="000000"/>
                </a:solidFill>
                <a:latin typeface="Inter"/>
                <a:ea typeface="Inter"/>
                <a:cs typeface="Inter"/>
                <a:sym typeface="Inter"/>
              </a:rPr>
              <a:t>🚫Agent</a:t>
            </a:r>
            <a:r>
              <a:rPr lang="en-US" sz="1399">
                <a:solidFill>
                  <a:srgbClr val="000000"/>
                </a:solidFill>
                <a:latin typeface="Inter"/>
                <a:ea typeface="Inter"/>
                <a:cs typeface="Inter"/>
                <a:sym typeface="Inter"/>
              </a:rPr>
              <a:t> không chọn 'up' vì: agent lên trên không gần đích hơn,</a:t>
            </a:r>
          </a:p>
          <a:p>
            <a:pPr algn="just">
              <a:lnSpc>
                <a:spcPts val="2491"/>
              </a:lnSpc>
            </a:pPr>
            <a:r>
              <a:rPr lang="en-US" sz="1399">
                <a:solidFill>
                  <a:srgbClr val="000000"/>
                </a:solidFill>
                <a:latin typeface="Inter"/>
                <a:ea typeface="Inter"/>
                <a:cs typeface="Inter"/>
                <a:sym typeface="Inter"/>
              </a:rPr>
              <a:t>🚫</a:t>
            </a:r>
            <a:r>
              <a:rPr lang="en-US" sz="1399">
                <a:solidFill>
                  <a:srgbClr val="000000"/>
                </a:solidFill>
                <a:latin typeface="Inter"/>
                <a:ea typeface="Inter"/>
                <a:cs typeface="Inter"/>
                <a:sym typeface="Inter"/>
              </a:rPr>
              <a:t>Agent không chọn 'down' vì: agent xuống dưới gần đích hơn, phía dưới có bomb,</a:t>
            </a:r>
          </a:p>
          <a:p>
            <a:pPr algn="just">
              <a:lnSpc>
                <a:spcPts val="2491"/>
              </a:lnSpc>
            </a:pPr>
            <a:r>
              <a:rPr lang="en-US" sz="1399">
                <a:solidFill>
                  <a:srgbClr val="000000"/>
                </a:solidFill>
                <a:latin typeface="Inter"/>
                <a:ea typeface="Inter"/>
                <a:cs typeface="Inter"/>
                <a:sym typeface="Inter"/>
              </a:rPr>
              <a:t>🚫A</a:t>
            </a:r>
            <a:r>
              <a:rPr lang="en-US" sz="1399">
                <a:solidFill>
                  <a:srgbClr val="000000"/>
                </a:solidFill>
                <a:latin typeface="Inter"/>
                <a:ea typeface="Inter"/>
                <a:cs typeface="Inter"/>
                <a:sym typeface="Inter"/>
              </a:rPr>
              <a:t>gent không chọn 'right' vì: bên phải có tường,</a:t>
            </a:r>
          </a:p>
        </p:txBody>
      </p:sp>
      <p:sp>
        <p:nvSpPr>
          <p:cNvPr name="TextBox 17" id="17"/>
          <p:cNvSpPr txBox="true"/>
          <p:nvPr/>
        </p:nvSpPr>
        <p:spPr>
          <a:xfrm rot="0">
            <a:off x="9276534" y="6284242"/>
            <a:ext cx="311151" cy="670922"/>
          </a:xfrm>
          <a:prstGeom prst="rect">
            <a:avLst/>
          </a:prstGeom>
        </p:spPr>
        <p:txBody>
          <a:bodyPr anchor="t" rtlCol="false" tIns="0" lIns="0" bIns="0" rIns="0" wrap="none">
            <a:spAutoFit/>
          </a:bodyPr>
          <a:lstStyle/>
          <a:p>
            <a:pPr algn="ctr">
              <a:lnSpc>
                <a:spcPts val="5521"/>
              </a:lnSpc>
              <a:spcBef>
                <a:spcPct val="0"/>
              </a:spcBef>
            </a:pPr>
            <a:r>
              <a:rPr lang="en-US" sz="3943">
                <a:solidFill>
                  <a:srgbClr val="000000"/>
                </a:solidFill>
                <a:latin typeface="Paytone One"/>
                <a:ea typeface="Paytone One"/>
                <a:cs typeface="Paytone One"/>
                <a:sym typeface="Paytone One"/>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68518" y="3215144"/>
            <a:ext cx="9753600" cy="3144561"/>
          </a:xfrm>
          <a:custGeom>
            <a:avLst/>
            <a:gdLst/>
            <a:ahLst/>
            <a:cxnLst/>
            <a:rect r="r" b="b" t="t" l="l"/>
            <a:pathLst>
              <a:path h="3144561" w="9753600">
                <a:moveTo>
                  <a:pt x="0" y="0"/>
                </a:moveTo>
                <a:lnTo>
                  <a:pt x="9753600" y="0"/>
                </a:lnTo>
                <a:lnTo>
                  <a:pt x="9753600" y="3144561"/>
                </a:lnTo>
                <a:lnTo>
                  <a:pt x="0" y="31445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93295" y="4701235"/>
            <a:ext cx="1848606" cy="1848606"/>
          </a:xfrm>
          <a:custGeom>
            <a:avLst/>
            <a:gdLst/>
            <a:ahLst/>
            <a:cxnLst/>
            <a:rect r="r" b="b" t="t" l="l"/>
            <a:pathLst>
              <a:path h="1848606" w="1848606">
                <a:moveTo>
                  <a:pt x="0" y="0"/>
                </a:moveTo>
                <a:lnTo>
                  <a:pt x="1848606" y="0"/>
                </a:lnTo>
                <a:lnTo>
                  <a:pt x="1848606" y="1848606"/>
                </a:lnTo>
                <a:lnTo>
                  <a:pt x="0" y="18486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89496" y="2613394"/>
            <a:ext cx="4823433" cy="2087841"/>
          </a:xfrm>
          <a:prstGeom prst="rect">
            <a:avLst/>
          </a:prstGeom>
        </p:spPr>
        <p:txBody>
          <a:bodyPr anchor="t" rtlCol="false" tIns="0" lIns="0" bIns="0" rIns="0">
            <a:spAutoFit/>
          </a:bodyPr>
          <a:lstStyle/>
          <a:p>
            <a:pPr algn="l" marL="0" indent="0" lvl="0">
              <a:lnSpc>
                <a:spcPts val="7919"/>
              </a:lnSpc>
            </a:pPr>
            <a:r>
              <a:rPr lang="en-US" sz="8799">
                <a:solidFill>
                  <a:srgbClr val="1F3685"/>
                </a:solidFill>
                <a:latin typeface="Faustina"/>
                <a:ea typeface="Faustina"/>
                <a:cs typeface="Faustina"/>
                <a:sym typeface="Faustina"/>
              </a:rPr>
              <a:t>THANK YOU!</a:t>
            </a:r>
          </a:p>
        </p:txBody>
      </p:sp>
      <p:grpSp>
        <p:nvGrpSpPr>
          <p:cNvPr name="Group 5" id="5"/>
          <p:cNvGrpSpPr/>
          <p:nvPr/>
        </p:nvGrpSpPr>
        <p:grpSpPr>
          <a:xfrm rot="0">
            <a:off x="-4037015" y="2745311"/>
            <a:ext cx="4536893" cy="453689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7" id="7"/>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6042374" y="2802826"/>
            <a:ext cx="1461327" cy="14613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10" id="10"/>
            <p:cNvSpPr txBox="true"/>
            <p:nvPr/>
          </p:nvSpPr>
          <p:spPr>
            <a:xfrm>
              <a:off x="76200" y="114300"/>
              <a:ext cx="660400" cy="622300"/>
            </a:xfrm>
            <a:prstGeom prst="rect">
              <a:avLst/>
            </a:prstGeom>
          </p:spPr>
          <p:txBody>
            <a:bodyPr anchor="ctr" rtlCol="false" tIns="50800" lIns="50800" bIns="50800" rIns="50800"/>
            <a:lstStyle/>
            <a:p>
              <a:pPr algn="ctr">
                <a:lnSpc>
                  <a:spcPts val="1620"/>
                </a:lnSpc>
              </a:pPr>
            </a:p>
          </p:txBody>
        </p:sp>
      </p:grpSp>
      <p:sp>
        <p:nvSpPr>
          <p:cNvPr name="TextBox 11" id="11"/>
          <p:cNvSpPr txBox="true"/>
          <p:nvPr/>
        </p:nvSpPr>
        <p:spPr>
          <a:xfrm rot="0">
            <a:off x="8762950" y="6236388"/>
            <a:ext cx="547425" cy="648897"/>
          </a:xfrm>
          <a:prstGeom prst="rect">
            <a:avLst/>
          </a:prstGeom>
        </p:spPr>
        <p:txBody>
          <a:bodyPr anchor="t" rtlCol="false" tIns="0" lIns="0" bIns="0" rIns="0" wrap="none">
            <a:spAutoFit/>
          </a:bodyPr>
          <a:lstStyle/>
          <a:p>
            <a:pPr algn="ctr">
              <a:lnSpc>
                <a:spcPts val="5316"/>
              </a:lnSpc>
              <a:spcBef>
                <a:spcPct val="0"/>
              </a:spcBef>
            </a:pPr>
            <a:r>
              <a:rPr lang="en-US" sz="3797">
                <a:solidFill>
                  <a:srgbClr val="1F3685"/>
                </a:solidFill>
                <a:latin typeface="Paytone One"/>
                <a:ea typeface="Paytone One"/>
                <a:cs typeface="Paytone One"/>
                <a:sym typeface="Paytone One"/>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DAGjCx6pCKg</dc:identifier>
  <dcterms:modified xsi:type="dcterms:W3CDTF">2011-08-01T06:04:30Z</dcterms:modified>
  <cp:revision>1</cp:revision>
  <dc:title>Seminar_Nhom01</dc:title>
</cp:coreProperties>
</file>